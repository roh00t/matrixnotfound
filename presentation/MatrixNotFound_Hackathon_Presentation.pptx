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4"/>
  </p:notesMasterIdLst>
  <p:sldIdLst>
    <p:sldId id="256" r:id="rId5"/>
    <p:sldId id="258" r:id="rId6"/>
    <p:sldId id="265" r:id="rId7"/>
    <p:sldId id="262" r:id="rId8"/>
    <p:sldId id="268" r:id="rId9"/>
    <p:sldId id="263" r:id="rId10"/>
    <p:sldId id="267" r:id="rId11"/>
    <p:sldId id="269" r:id="rId12"/>
    <p:sldId id="26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E78E147-5C14-4624-8284-9F37B3C81813}" v="1027" dt="2026-10-30T07:00:59.35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12"/>
    <p:restoredTop sz="94673"/>
  </p:normalViewPr>
  <p:slideViewPr>
    <p:cSldViewPr snapToGrid="0">
      <p:cViewPr varScale="1">
        <p:scale>
          <a:sx n="156" d="100"/>
          <a:sy n="156" d="100"/>
        </p:scale>
        <p:origin x="216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FFBCB1-5891-4D26-8FA8-63D3C7913327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281BBE-E16D-483E-8B55-501014EE220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17597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0:00-0:15 (15 s). Hi, we're Group 1, Matrix Not Found: Yeong Sir Chung, Matthew Roberto and Rohit Panda. Our project is Retrofit Radar: predicting building energy use in MATLAB to find which buildings to retrofit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0:15-0:45 (30 s). Buildings are a big share of emissions. The challenge: predict site energy use intensity from building characteristics and weather. Our twist is to use the prediction as a benchmark: a building far above what similar buildings use is a retrofit candidate.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281BBE-E16D-483E-8B55-501014EE2200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82988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4E451-8E8D-64D9-F362-EF4E99CA9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9A832B-38CF-74FF-3477-10323BF9C9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9D7237-5F52-ACAA-91FF-345566BAD0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0:45-1:20 (35 s). Two data findings drove everything. First, the test set is a single year the model never sees, and it has no State 6 buildings, so a random split would flatter us. Second, key fields are missing; we fill them using training data only and keep a flag, because missingness is informative. The heatmap shows Energy Star rating is the strongest single signal at minus 0.54, and the monthly temperatures are near-duplicates of each other.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3CAAD-8613-2ACE-5BB8-CBFC7F87BF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281BBE-E16D-483E-8B55-501014EE2200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92277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92DD9-2506-3DB7-7FEA-73F1451CF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72156B-6D5D-EDD5-A8D5-982164119F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A97BAE-0BC1-532A-7DF7-542A93F22C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1:20-2:00 (40 s). We use LSBoost, MATLAB's own gradient boosting, the same family as XGBoost. We iterated from a single tree to three boosted versions. Validation is the key design choice: we hold out one whole year at a time, six times. The chart shows why: on the same tree, random five-fold says 50, but holding out a year says 61. Random folds hide 10.7 points of error, because the same building appears in several years.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F30DD-F779-F78E-94FB-5EE5C7261C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281BBE-E16D-483E-8B55-501014EE2200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731326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2:00-2:35 (35 s). Results under leave-one-year-out. Boosting cuts the error by a third versus a single tree. Shrinkage, v2, did not help, and we kept that result to show the iteration honestly. Feature selection, v3, dropping the monthly temperatures, gave the best score: RMSE 40.1, MAE 21, R squared 0.53, best in five of six held-out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3CBBB-D5ED-8CAE-DDD1-FA417DD7A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3E8F1C-D90E-AA2B-F978-7D24A58C7E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A43D08-3932-725E-6305-407E1A573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2:35-3:00 (25 s). A second, controlled experiment by the team: same folds, only the model changes. Feature selection helps a little, boosting helps a lot: Model 3, LSBoost on eight selected factors, wins on every metric, both on five-fold and on the latest-year holdout. Two independent experiments agree.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D2631-DE0C-012F-4AFE-49F79C7F0F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281BBE-E16D-483E-8B55-501014EE2200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6515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305B9-9E52-07DF-2A50-4E0D4B038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459ADE-ECFD-4C7F-9E86-C7DC4B160E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190B7C-E5C7-3EAD-B135-F9FF5223C5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3:00-3:25 (25 s). Residuals for all three models. They are centred on zero, so the model is not biased, and Model 3 is the tightest. The long negative tail is the interesting part: a small number of buildings use far more energy than the model expects. That is exactly the signal we turn into a product.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63F8AD-6CF3-36D6-2626-6BF1FA3762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281BBE-E16D-483E-8B55-501014EE2200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908609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3:25-4:40 (75 s). SWITCH TO THE BROWSER: open index.html. (1) Dashboard: model iteration chart, then the Retrofit Radar shortlist. 1,316 buildings use at least 50% more than expected. (2) Simulator: click The Hive, press Run model: about 109 kBtu per square foot, roughly 513 kW average. Drag floor area or Energy Star to show the curve update live. The 300-tree model was exported from MATLAB and matches it exactly. Then come back to the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B1622-0CD3-EFCA-0A0E-4254C2854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DA870-DF8E-898F-B076-E347862BDE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4E5F79-68CA-99F0-E0AC-AC0185D615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4:40-5:00 (20 s). To wrap up: LSBoost v3 is our final model, validated the hard way on unseen years, and Retrofit Radar turns it into a list of buildings to audit first. Everything is in our repository. Thank you, happy to take questions.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D882D8-92A9-019C-58FC-6D62CAC297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281BBE-E16D-483E-8B55-501014EE2200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896244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7432" y="0"/>
            <a:ext cx="12219432" cy="68657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259" y="1820486"/>
            <a:ext cx="4800600" cy="276218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5260" y="4714821"/>
            <a:ext cx="3830874" cy="149661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5259" y="219456"/>
            <a:ext cx="270377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5440" y="219456"/>
            <a:ext cx="149536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09268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17452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40535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6AC85073-6D22-76C5-C752-C565E9FBC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6" t="10520" r="14652" b="11508"/>
          <a:stretch>
            <a:fillRect/>
          </a:stretch>
        </p:blipFill>
        <p:spPr>
          <a:xfrm flipH="1">
            <a:off x="-2" y="11899"/>
            <a:ext cx="12192001" cy="686571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BF6CFC71-0CC0-F6AB-06FD-5F2DE2587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459253"/>
            <a:ext cx="5658468" cy="2691359"/>
          </a:xfrm>
        </p:spPr>
        <p:txBody>
          <a:bodyPr/>
          <a:lstStyle>
            <a:lvl1pPr>
              <a:defRPr sz="4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932924-E87B-08A2-5EE3-BBA69699E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2264" y="516600"/>
            <a:ext cx="2593814" cy="162788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62265" y="219456"/>
            <a:ext cx="250404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63200" y="219456"/>
            <a:ext cx="114638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162591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  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EB34FF5-770C-AA64-B806-5D6DED711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463843"/>
            <a:ext cx="12188952" cy="2394157"/>
          </a:xfrm>
          <a:gradFill>
            <a:gsLst>
              <a:gs pos="31000">
                <a:srgbClr val="000000">
                  <a:alpha val="30000"/>
                </a:srgbClr>
              </a:gs>
              <a:gs pos="87000">
                <a:srgbClr val="000000">
                  <a:alpha val="60000"/>
                </a:srgbClr>
              </a:gs>
              <a:gs pos="0">
                <a:srgbClr val="000000">
                  <a:alpha val="0"/>
                </a:srgbClr>
              </a:gs>
            </a:gsLst>
            <a:lin ang="5400000" scaled="0"/>
          </a:gradFill>
        </p:spPr>
        <p:txBody>
          <a:bodyPr lIns="502920" tIns="0" rIns="5029200" bIns="365760" anchor="b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9132BB0-A42B-7355-8046-F22B2344C6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01099" y="4463843"/>
            <a:ext cx="3387853" cy="2394157"/>
          </a:xfrm>
        </p:spPr>
        <p:txBody>
          <a:bodyPr vert="horz" lIns="137160" tIns="365760" rIns="0" bIns="457200" rtlCol="0" anchor="b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37656" y="219456"/>
            <a:ext cx="274061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866095" y="219456"/>
            <a:ext cx="195799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62195" y="219456"/>
            <a:ext cx="448805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788580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6F838A51-B977-1664-089F-3B2250DFEF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8117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980" y="4311805"/>
            <a:ext cx="8585337" cy="2368300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65617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9456"/>
            <a:ext cx="19132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8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12308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D09BF41B-6D10-9A6E-03E4-5E7320A61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-2"/>
            <a:ext cx="12192000" cy="28690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68" y="2138776"/>
            <a:ext cx="6433266" cy="1962149"/>
          </a:xfrm>
        </p:spPr>
        <p:txBody>
          <a:bodyPr anchor="t">
            <a:normAutofit/>
          </a:bodyPr>
          <a:lstStyle>
            <a:lvl1pPr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53300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53301" y="2138776"/>
            <a:ext cx="3718420" cy="4109624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38975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red and yellow light&#10;&#10;AI-generated content may be incorrect.">
            <a:extLst>
              <a:ext uri="{FF2B5EF4-FFF2-40B4-BE49-F238E27FC236}">
                <a16:creationId xmlns:a16="http://schemas.microsoft.com/office/drawing/2014/main" id="{BD349A90-08FB-AFC0-8649-56404DF7B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9"/>
          <a:stretch>
            <a:fillRect/>
          </a:stretch>
        </p:blipFill>
        <p:spPr>
          <a:xfrm rot="10800000" flipH="1">
            <a:off x="-9982" y="2555751"/>
            <a:ext cx="12192000" cy="4343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852" y="3481713"/>
            <a:ext cx="5496426" cy="2092272"/>
          </a:xfrm>
        </p:spPr>
        <p:txBody>
          <a:bodyPr anchor="t">
            <a:normAutofit/>
          </a:bodyPr>
          <a:lstStyle>
            <a:lvl1pPr>
              <a:defRPr sz="7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43EA2DD-B019-E3AA-ACB7-13CC3353E8D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2555751"/>
          </a:xfrm>
          <a:blipFill>
            <a:blip r:embed="rId3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3660" y="2734068"/>
            <a:ext cx="272733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85567" y="2734068"/>
            <a:ext cx="158671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614" y="2734068"/>
            <a:ext cx="52669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785567" y="3481713"/>
            <a:ext cx="3916103" cy="2765887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228600" lvl="0" indent="-228600"/>
            <a:r>
              <a:rPr lang="en-US"/>
              <a:t>Click to edit Master text styles</a:t>
            </a:r>
          </a:p>
          <a:p>
            <a:pPr marL="228600" lvl="1" indent="-228600"/>
            <a:r>
              <a:rPr lang="en-US"/>
              <a:t>Second level</a:t>
            </a:r>
          </a:p>
          <a:p>
            <a:pPr marL="228600" lvl="2" indent="-228600"/>
            <a:r>
              <a:rPr lang="en-US"/>
              <a:t>Third level</a:t>
            </a:r>
          </a:p>
          <a:p>
            <a:pPr marL="228600" lvl="3" indent="-228600"/>
            <a:r>
              <a:rPr lang="en-US"/>
              <a:t>Fourth level</a:t>
            </a:r>
          </a:p>
          <a:p>
            <a:pPr marL="228600" lvl="4" indent="-228600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4588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518E8C82-2B1B-76C7-A67D-099AEEEA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9"/>
          <a:stretch>
            <a:fillRect/>
          </a:stretch>
        </p:blipFill>
        <p:spPr>
          <a:xfrm>
            <a:off x="6324601" y="1"/>
            <a:ext cx="588125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51" y="1276990"/>
            <a:ext cx="5378267" cy="985658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418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0295" y="21485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477" y="2471736"/>
            <a:ext cx="5378268" cy="36627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58656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E41EB56E-DF88-E5AB-35AF-891395DCDB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406900"/>
            <a:ext cx="9144000" cy="24511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899" y="1886712"/>
            <a:ext cx="3507989" cy="3233928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08394"/>
            <a:ext cx="253211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67400" y="208394"/>
            <a:ext cx="20175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588" y="208394"/>
            <a:ext cx="5531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67401" y="1886712"/>
            <a:ext cx="4495800" cy="32339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  <a:lvl2pPr>
              <a:defRPr lang="en-US">
                <a:solidFill>
                  <a:schemeClr val="tx1"/>
                </a:solidFill>
              </a:defRPr>
            </a:lvl2pPr>
            <a:lvl3pPr>
              <a:defRPr lang="en-US">
                <a:solidFill>
                  <a:schemeClr val="tx1"/>
                </a:solidFill>
              </a:defRPr>
            </a:lvl3pPr>
            <a:lvl4pPr>
              <a:defRPr lang="en-US">
                <a:solidFill>
                  <a:schemeClr val="tx1"/>
                </a:solidFill>
              </a:defRPr>
            </a:lvl4pPr>
            <a:lvl5pPr>
              <a:defRPr lang="en-US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592257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436" y="1115568"/>
            <a:ext cx="2505264" cy="1624122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684048" cy="338328"/>
          </a:xfrm>
        </p:spPr>
        <p:txBody>
          <a:bodyPr/>
          <a:lstStyle/>
          <a:p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74064" y="215823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242" y="215823"/>
            <a:ext cx="549272" cy="338328"/>
          </a:xfrm>
        </p:spPr>
        <p:txBody>
          <a:bodyPr/>
          <a:lstStyle/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8436" y="3028523"/>
            <a:ext cx="2505264" cy="341037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B2531DA-E07E-34C2-010B-27DB8B0049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74064" y="1181100"/>
            <a:ext cx="8817936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6397916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4000500" cy="1352516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727930" cy="338328"/>
          </a:xfrm>
        </p:spPr>
        <p:txBody>
          <a:bodyPr/>
          <a:lstStyle/>
          <a:p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7899" y="219456"/>
            <a:ext cx="1747774" cy="338328"/>
          </a:xfrm>
        </p:spPr>
        <p:txBody>
          <a:bodyPr/>
          <a:lstStyle/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3948" y="216280"/>
            <a:ext cx="551113" cy="338328"/>
          </a:xfrm>
        </p:spPr>
        <p:txBody>
          <a:bodyPr/>
          <a:lstStyle/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7899" y="1104900"/>
            <a:ext cx="6925002" cy="1352516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None/>
              <a:defRPr sz="1400"/>
            </a:lvl1pPr>
            <a:lvl2pPr marL="514350" indent="-285750">
              <a:buFont typeface="Arial" panose="020B0604020202020204" pitchFamily="34" charset="0"/>
              <a:buNone/>
              <a:defRPr sz="14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400"/>
            </a:lvl4pPr>
            <a:lvl5pPr marL="1085850" indent="-17145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46877B-7C99-D26C-DFEC-72A4289A8F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938509"/>
            <a:ext cx="12192000" cy="3919491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6191388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2514600" cy="2918919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5146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CA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B6A322-B3CC-9AE7-DB63-8B433811BD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423747" y="0"/>
            <a:ext cx="8768253" cy="3985719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800" y="4077628"/>
            <a:ext cx="1920240" cy="338328"/>
          </a:xfrm>
        </p:spPr>
        <p:txBody>
          <a:bodyPr/>
          <a:lstStyle/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407762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4423576"/>
            <a:ext cx="8420100" cy="1824824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11703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1339" y="1115568"/>
            <a:ext cx="5247577" cy="994131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933700" cy="338328"/>
          </a:xfrm>
        </p:spPr>
        <p:txBody>
          <a:bodyPr/>
          <a:lstStyle/>
          <a:p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96579" y="209088"/>
            <a:ext cx="184404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34185" y="209088"/>
            <a:ext cx="555948" cy="338328"/>
          </a:xfrm>
        </p:spPr>
        <p:txBody>
          <a:bodyPr/>
          <a:lstStyle/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3BFBE8F-8803-50FD-04BC-3A247F9767C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181100"/>
            <a:ext cx="5247577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881339" y="2133600"/>
            <a:ext cx="5247577" cy="41148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718027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57" y="1115568"/>
            <a:ext cx="3607670" cy="3170545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4858"/>
            <a:ext cx="2597106" cy="338328"/>
          </a:xfrm>
        </p:spPr>
        <p:txBody>
          <a:bodyPr/>
          <a:lstStyle/>
          <a:p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5909" y="214858"/>
            <a:ext cx="1586711" cy="338328"/>
          </a:xfrm>
        </p:spPr>
        <p:txBody>
          <a:bodyPr/>
          <a:lstStyle/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7610" y="214858"/>
            <a:ext cx="555948" cy="338328"/>
          </a:xfrm>
        </p:spPr>
        <p:txBody>
          <a:bodyPr/>
          <a:lstStyle/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5909" y="1112672"/>
            <a:ext cx="6926991" cy="196780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21707E4-5122-AA3B-7CFC-6AF9C0BAC4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03079" y="3500203"/>
            <a:ext cx="7288921" cy="3357797"/>
          </a:xfrm>
          <a:custGeom>
            <a:avLst/>
            <a:gdLst>
              <a:gd name="connsiteX0" fmla="*/ 0 w 7391400"/>
              <a:gd name="connsiteY0" fmla="*/ 0 h 3018269"/>
              <a:gd name="connsiteX1" fmla="*/ 7391400 w 7391400"/>
              <a:gd name="connsiteY1" fmla="*/ 0 h 3018269"/>
              <a:gd name="connsiteX2" fmla="*/ 7391400 w 7391400"/>
              <a:gd name="connsiteY2" fmla="*/ 3018269 h 3018269"/>
              <a:gd name="connsiteX3" fmla="*/ 0 w 7391400"/>
              <a:gd name="connsiteY3" fmla="*/ 3018269 h 3018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91400" h="3018269">
                <a:moveTo>
                  <a:pt x="0" y="0"/>
                </a:moveTo>
                <a:lnTo>
                  <a:pt x="7391400" y="0"/>
                </a:lnTo>
                <a:lnTo>
                  <a:pt x="7391400" y="3018269"/>
                </a:lnTo>
                <a:lnTo>
                  <a:pt x="0" y="3018269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5760888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3429001"/>
            <a:ext cx="2501307" cy="2551982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02C8AD-A927-B946-5850-6500487D68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12192000" cy="27050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865290"/>
            <a:ext cx="2726376" cy="338328"/>
          </a:xfrm>
        </p:spPr>
        <p:txBody>
          <a:bodyPr/>
          <a:lstStyle/>
          <a:p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799" y="2865290"/>
            <a:ext cx="1967345" cy="338328"/>
          </a:xfrm>
        </p:spPr>
        <p:txBody>
          <a:bodyPr/>
          <a:lstStyle/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865290"/>
            <a:ext cx="555948" cy="338328"/>
          </a:xfrm>
        </p:spPr>
        <p:txBody>
          <a:bodyPr/>
          <a:lstStyle/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3429000"/>
            <a:ext cx="8210204" cy="300990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0774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230" y="1115568"/>
            <a:ext cx="3603256" cy="140987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8700" y="209088"/>
            <a:ext cx="2514600" cy="338328"/>
          </a:xfrm>
        </p:spPr>
        <p:txBody>
          <a:bodyPr/>
          <a:lstStyle/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6019" y="219456"/>
            <a:ext cx="56434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6230" y="2705100"/>
            <a:ext cx="3603256" cy="36957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83D1CED-EDC4-B2B7-E11C-EF0ED41A91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35269" y="1175658"/>
            <a:ext cx="7256731" cy="5682342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7541862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4607626"/>
            <a:ext cx="4419600" cy="1640774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4508209-B462-E74A-288F-8910B06DE3A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914" y="0"/>
            <a:ext cx="4836786" cy="421419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41275" y="209088"/>
            <a:ext cx="2726376" cy="338328"/>
          </a:xfrm>
        </p:spPr>
        <p:txBody>
          <a:bodyPr/>
          <a:lstStyle/>
          <a:p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0525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41276" y="1104900"/>
            <a:ext cx="5750381" cy="5143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812584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3105335" cy="1636510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/>
          <a:p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55522" y="214858"/>
            <a:ext cx="2536988" cy="338328"/>
          </a:xfrm>
        </p:spPr>
        <p:txBody>
          <a:bodyPr/>
          <a:lstStyle/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14858"/>
            <a:ext cx="555948" cy="338328"/>
          </a:xfrm>
        </p:spPr>
        <p:txBody>
          <a:bodyPr/>
          <a:lstStyle/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A8D0EC2-AB64-20F7-00E1-73B35DEAA2D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3017520"/>
            <a:ext cx="3417902" cy="384048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55522" y="1104901"/>
            <a:ext cx="7476571" cy="53339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76129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26FEAF5-B987-7B83-7D1F-A4C535E2B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1" r="5781"/>
          <a:stretch>
            <a:fillRect/>
          </a:stretch>
        </p:blipFill>
        <p:spPr>
          <a:xfrm rot="10800000" flipH="1">
            <a:off x="0" y="-1"/>
            <a:ext cx="12192000" cy="686409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9DD887D-B316-418B-8AF4-4F941223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5082379"/>
            <a:ext cx="4000500" cy="1169230"/>
          </a:xfrm>
        </p:spPr>
        <p:txBody>
          <a:bodyPr anchor="b">
            <a:normAutofit/>
          </a:bodyPr>
          <a:lstStyle>
            <a:lvl1pPr>
              <a:defRPr sz="2000" spc="-5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0" y="209088"/>
            <a:ext cx="197069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42D9118-C154-84FE-9D86-92525287F07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80988" y="1063625"/>
            <a:ext cx="10428287" cy="350837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26000"/>
            </a:lvl1pPr>
          </a:lstStyle>
          <a:p>
            <a:pPr lvl="0"/>
            <a:r>
              <a:rPr lang="en-US"/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29184760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d and purple light&#10;&#10;AI-generated content may be incorrect.">
            <a:extLst>
              <a:ext uri="{FF2B5EF4-FFF2-40B4-BE49-F238E27FC236}">
                <a16:creationId xmlns:a16="http://schemas.microsoft.com/office/drawing/2014/main" id="{27A6C04A-3EE2-7293-8111-E4CF6B18B2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" t="57458" r="22221" b="1"/>
          <a:stretch>
            <a:fillRect/>
          </a:stretch>
        </p:blipFill>
        <p:spPr>
          <a:xfrm rot="10800000">
            <a:off x="0" y="0"/>
            <a:ext cx="12192000" cy="48028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9099" y="2885606"/>
            <a:ext cx="8801101" cy="3553293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6000" b="0" spc="-50" baseline="0">
                <a:solidFill>
                  <a:schemeClr val="tx1"/>
                </a:solidFill>
              </a:defRPr>
            </a:lvl1pPr>
            <a:lvl2pPr marL="228600" indent="0">
              <a:lnSpc>
                <a:spcPct val="85000"/>
              </a:lnSpc>
              <a:buNone/>
              <a:defRPr sz="4400" b="0" spc="-50" baseline="0">
                <a:solidFill>
                  <a:schemeClr val="tx1"/>
                </a:solidFill>
              </a:defRPr>
            </a:lvl2pPr>
            <a:lvl3pPr marL="457200" indent="0">
              <a:lnSpc>
                <a:spcPct val="85000"/>
              </a:lnSpc>
              <a:buNone/>
              <a:defRPr sz="4000" b="0" spc="-50" baseline="0">
                <a:solidFill>
                  <a:schemeClr val="tx1"/>
                </a:solidFill>
              </a:defRPr>
            </a:lvl3pPr>
            <a:lvl4pPr marL="685800" indent="0">
              <a:lnSpc>
                <a:spcPct val="85000"/>
              </a:lnSpc>
              <a:buNone/>
              <a:defRPr sz="3600" b="0" spc="-50" baseline="0">
                <a:solidFill>
                  <a:schemeClr val="tx1"/>
                </a:solidFill>
              </a:defRPr>
            </a:lvl4pPr>
            <a:lvl5pPr marL="914400" indent="0">
              <a:lnSpc>
                <a:spcPct val="85000"/>
              </a:lnSpc>
              <a:buNone/>
              <a:defRPr sz="3200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1631589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56ABB8EC-1098-DCAC-E2E3-BCA53EEC6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22024" r="10011"/>
          <a:stretch>
            <a:fillRect/>
          </a:stretch>
        </p:blipFill>
        <p:spPr>
          <a:xfrm rot="10800000" flipH="1">
            <a:off x="0" y="0"/>
            <a:ext cx="12192000" cy="68640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899" y="4874218"/>
            <a:ext cx="8506567" cy="666427"/>
          </a:xfrm>
        </p:spPr>
        <p:txBody>
          <a:bodyPr anchor="ctr">
            <a:normAutofit/>
          </a:bodyPr>
          <a:lstStyle>
            <a:lvl1pPr algn="r">
              <a:lnSpc>
                <a:spcPct val="90000"/>
              </a:lnSpc>
              <a:defRPr sz="1400" b="0" cap="all" spc="1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899" y="1856096"/>
            <a:ext cx="8506567" cy="2855388"/>
          </a:xfrm>
        </p:spPr>
        <p:txBody>
          <a:bodyPr anchor="ctr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31670029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8382000" cy="7016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CA46A-141E-21AB-51BA-BA1F0F39570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8607D36-7013-02AC-69A9-8D38C5BBA7D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878824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897398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655" y="932098"/>
            <a:ext cx="10835539" cy="70408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202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654" y="1675614"/>
            <a:ext cx="4913919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854769-C5D8-1BF0-C3A2-77216D6255D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2285022"/>
            <a:ext cx="4900773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6500" y="1675614"/>
            <a:ext cx="4967694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3527224-4234-3620-766D-DCCA3AFDF89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401" y="2285022"/>
            <a:ext cx="4982762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3853878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8380309" cy="87619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7926330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8954271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ed and purple light&#10;&#10;AI-generated content may be incorrect.">
            <a:extLst>
              <a:ext uri="{FF2B5EF4-FFF2-40B4-BE49-F238E27FC236}">
                <a16:creationId xmlns:a16="http://schemas.microsoft.com/office/drawing/2014/main" id="{CC69B319-31FA-514C-5A82-30B4D1B20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758952"/>
            <a:ext cx="7609668" cy="1734866"/>
          </a:xfrm>
        </p:spPr>
        <p:txBody>
          <a:bodyPr anchor="t">
            <a:noAutofit/>
          </a:bodyPr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100" y="2705101"/>
            <a:ext cx="8801100" cy="29475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2120663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>
            <a:extLst>
              <a:ext uri="{FF2B5EF4-FFF2-40B4-BE49-F238E27FC236}">
                <a16:creationId xmlns:a16="http://schemas.microsoft.com/office/drawing/2014/main" id="{86565871-9318-EC0D-5245-A159818CA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687F1B09-5020-D2DD-189E-7226AD232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2704772"/>
            <a:ext cx="5465660" cy="2733384"/>
          </a:xfrm>
        </p:spPr>
        <p:txBody>
          <a:bodyPr/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492B719-9068-0A96-E408-4EB3E9F85BE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05550" y="2705100"/>
            <a:ext cx="4410075" cy="1562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406394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9942409" cy="8761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417" y="2133600"/>
            <a:ext cx="9942409" cy="4305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393" y="214858"/>
            <a:ext cx="272637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1100" y="214858"/>
            <a:ext cx="192024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1657" y="214858"/>
            <a:ext cx="555948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7634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1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>
          <p15:clr>
            <a:srgbClr val="F26B43"/>
          </p15:clr>
        </p15:guide>
        <p15:guide id="4" orient="horz" pos="264">
          <p15:clr>
            <a:srgbClr val="F26B43"/>
          </p15:clr>
        </p15:guide>
        <p15:guide id="5" pos="7416">
          <p15:clr>
            <a:srgbClr val="F26B43"/>
          </p15:clr>
        </p15:guide>
        <p15:guide id="12" pos="4632">
          <p15:clr>
            <a:srgbClr val="F26B43"/>
          </p15:clr>
        </p15:guide>
        <p15:guide id="13" pos="5544">
          <p15:clr>
            <a:srgbClr val="F26B43"/>
          </p15:clr>
        </p15:guide>
        <p15:guide id="26" pos="2784">
          <p15:clr>
            <a:srgbClr val="F26B43"/>
          </p15:clr>
        </p15:guide>
        <p15:guide id="27" pos="3048">
          <p15:clr>
            <a:srgbClr val="F26B43"/>
          </p15:clr>
        </p15:guide>
        <p15:guide id="29" pos="3960">
          <p15:clr>
            <a:srgbClr val="F26B43"/>
          </p15:clr>
        </p15:guide>
        <p15:guide id="30" pos="1176">
          <p15:clr>
            <a:srgbClr val="F26B43"/>
          </p15:clr>
        </p15:guide>
        <p15:guide id="31" pos="912">
          <p15:clr>
            <a:srgbClr val="F26B43"/>
          </p15:clr>
        </p15:guide>
        <p15:guide id="32" pos="3696">
          <p15:clr>
            <a:srgbClr val="F26B43"/>
          </p15:clr>
        </p15:guide>
        <p15:guide id="33" pos="1848">
          <p15:clr>
            <a:srgbClr val="F26B43"/>
          </p15:clr>
        </p15:guide>
        <p15:guide id="34" pos="2112">
          <p15:clr>
            <a:srgbClr val="F26B43"/>
          </p15:clr>
        </p15:guide>
        <p15:guide id="36" pos="6528">
          <p15:clr>
            <a:srgbClr val="F26B43"/>
          </p15:clr>
        </p15:guide>
        <p15:guide id="37" pos="6744">
          <p15:clr>
            <a:srgbClr val="F26B43"/>
          </p15:clr>
        </p15:guide>
        <p15:guide id="42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roh00t.github.io/MatrixNotFound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oh00t/MatrixNotFound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1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DCBEC-A6E4-A69B-4AD4-1D38B0E41B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78326" y="1354819"/>
            <a:ext cx="4800600" cy="2762187"/>
          </a:xfrm>
        </p:spPr>
        <p:txBody>
          <a:bodyPr/>
          <a:lstStyle/>
          <a:p>
            <a:r>
              <a:rPr lang="en-CA" sz="4000" dirty="0"/>
              <a:t>Learn to Hack Hackathon </a:t>
            </a:r>
            <a:br>
              <a:rPr lang="en-CA" sz="4000" dirty="0"/>
            </a:br>
            <a:r>
              <a:rPr lang="en-CA" b="1" dirty="0"/>
              <a:t>Group 1 – Matrix Not Found</a:t>
            </a:r>
            <a:endParaRPr lang="en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90D845-2ADC-1F6C-398E-326EF81626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78327" y="4249154"/>
            <a:ext cx="3830874" cy="1496616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CA" sz="2000" dirty="0"/>
              <a:t>Yeong Sir Chung</a:t>
            </a:r>
          </a:p>
          <a:p>
            <a:pPr>
              <a:lnSpc>
                <a:spcPct val="100000"/>
              </a:lnSpc>
            </a:pPr>
            <a:r>
              <a:rPr lang="en-CA" sz="2000" dirty="0"/>
              <a:t>Matthew Roberto</a:t>
            </a:r>
          </a:p>
          <a:p>
            <a:pPr>
              <a:lnSpc>
                <a:spcPct val="100000"/>
              </a:lnSpc>
            </a:pPr>
            <a:r>
              <a:rPr lang="en-CA" sz="2000" dirty="0"/>
              <a:t>Rohit Panda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A8B0553-E47D-FA85-DF84-0BCA9D9FD706}"/>
              </a:ext>
            </a:extLst>
          </p:cNvPr>
          <p:cNvSpPr txBox="1">
            <a:spLocks/>
          </p:cNvSpPr>
          <p:nvPr/>
        </p:nvSpPr>
        <p:spPr>
          <a:xfrm>
            <a:off x="-134813" y="6529891"/>
            <a:ext cx="5868639" cy="65621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4800" b="0" kern="1200" spc="-11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800" dirty="0">
                <a:solidFill>
                  <a:schemeClr val="bg1"/>
                </a:solidFill>
              </a:rPr>
              <a:t> </a:t>
            </a:r>
            <a:r>
              <a:rPr lang="en-CA" sz="2800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https://roh00t.github.io/MatrixNotFound/</a:t>
            </a:r>
            <a:endParaRPr lang="en-CA" sz="2800" dirty="0">
              <a:solidFill>
                <a:schemeClr val="bg1"/>
              </a:solidFill>
            </a:endParaRPr>
          </a:p>
          <a:p>
            <a:endParaRPr lang="en-CA" sz="3600" dirty="0"/>
          </a:p>
        </p:txBody>
      </p:sp>
    </p:spTree>
    <p:extLst>
      <p:ext uri="{BB962C8B-B14F-4D97-AF65-F5344CB8AC3E}">
        <p14:creationId xmlns:p14="http://schemas.microsoft.com/office/powerpoint/2010/main" val="16937808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60DCB3-8BDE-9907-BC86-35D7AB3524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417" y="2133600"/>
            <a:ext cx="5286157" cy="4305300"/>
          </a:xfrm>
        </p:spPr>
        <p:txBody>
          <a:bodyPr>
            <a:normAutofit/>
          </a:bodyPr>
          <a:lstStyle/>
          <a:p>
            <a:r>
              <a:rPr lang="en-GB"/>
              <a:t>Buildings are a major contributor to carbon emissions. We built an </a:t>
            </a:r>
            <a:r>
              <a:rPr lang="en-GB" b="1"/>
              <a:t>ML model</a:t>
            </a:r>
            <a:r>
              <a:rPr lang="en-GB"/>
              <a:t> that </a:t>
            </a:r>
            <a:r>
              <a:rPr lang="en-GB" b="1"/>
              <a:t>predicts a building's energy use intensity</a:t>
            </a:r>
            <a:r>
              <a:rPr lang="en-GB"/>
              <a:t> (site EUI) from known factors, such as: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Floor area and year built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Energy Star rating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Facility type and location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Climate: temperatures, degree days, precipitation and snow</a:t>
            </a:r>
          </a:p>
          <a:p>
            <a:r>
              <a:rPr lang="en-GB"/>
              <a:t>Buildings that use far more energy than the model expects for similar buildings are the ones leaders should </a:t>
            </a:r>
            <a:r>
              <a:rPr lang="en-GB" b="1"/>
              <a:t>retrofit first</a:t>
            </a:r>
            <a:r>
              <a:rPr lang="en-GB"/>
              <a:t>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CC632E-460C-6B39-7224-621405DC60DE}"/>
              </a:ext>
            </a:extLst>
          </p:cNvPr>
          <p:cNvSpPr/>
          <p:nvPr/>
        </p:nvSpPr>
        <p:spPr>
          <a:xfrm>
            <a:off x="0" y="6667018"/>
            <a:ext cx="7396223" cy="19098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D091A1-BC22-2A30-F9A2-E89030970A10}"/>
              </a:ext>
            </a:extLst>
          </p:cNvPr>
          <p:cNvSpPr/>
          <p:nvPr/>
        </p:nvSpPr>
        <p:spPr>
          <a:xfrm>
            <a:off x="7396223" y="6476036"/>
            <a:ext cx="4795777" cy="19098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C3B9FED-5597-81B6-1A44-5924D54EC93D}"/>
              </a:ext>
            </a:extLst>
          </p:cNvPr>
          <p:cNvSpPr/>
          <p:nvPr/>
        </p:nvSpPr>
        <p:spPr>
          <a:xfrm>
            <a:off x="429417" y="542931"/>
            <a:ext cx="4032676" cy="1176284"/>
          </a:xfrm>
          <a:prstGeom prst="roundRect">
            <a:avLst>
              <a:gd name="adj" fmla="val 9060"/>
            </a:avLst>
          </a:prstGeom>
          <a:blipFill dpi="0" rotWithShape="1">
            <a:blip r:embed="rId3">
              <a:alphaModFix amt="15000"/>
            </a:blip>
            <a:srcRect/>
            <a:tile tx="0" ty="0" sx="100000" sy="100000" flip="none" algn="tl"/>
          </a:blipFill>
          <a:ln w="12700">
            <a:gradFill flip="none" rotWithShape="1">
              <a:gsLst>
                <a:gs pos="55000">
                  <a:schemeClr val="tx1">
                    <a:alpha val="0"/>
                  </a:schemeClr>
                </a:gs>
                <a:gs pos="0">
                  <a:schemeClr val="tx1"/>
                </a:gs>
              </a:gsLst>
              <a:lin ang="2700000" scaled="0"/>
              <a:tileRect/>
            </a:gradFill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2400"/>
              <a:t>z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097E83-CFD4-E8B2-7CF9-DCCFA7B5D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662" y="925828"/>
            <a:ext cx="4032676" cy="410490"/>
          </a:xfrm>
        </p:spPr>
        <p:txBody>
          <a:bodyPr>
            <a:noAutofit/>
          </a:bodyPr>
          <a:lstStyle/>
          <a:p>
            <a:r>
              <a:rPr lang="en-CA" sz="3200"/>
              <a:t>Problem Statement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FD434C1-245B-5EFA-294E-6BAA2932C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829733"/>
            <a:ext cx="5291328" cy="4666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9980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A5E44-5C07-45F9-F168-FB29B89D9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12F722-91D8-F1EA-7E6A-462C73442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418" y="2133600"/>
            <a:ext cx="4963850" cy="4305300"/>
          </a:xfrm>
        </p:spPr>
        <p:txBody>
          <a:bodyPr/>
          <a:lstStyle/>
          <a:p>
            <a:r>
              <a:rPr lang="en-GB" b="1"/>
              <a:t>75,757</a:t>
            </a:r>
            <a:r>
              <a:rPr lang="en-GB"/>
              <a:t> training building-years; </a:t>
            </a:r>
            <a:r>
              <a:rPr lang="en-GB" b="1"/>
              <a:t>9,705</a:t>
            </a:r>
            <a:r>
              <a:rPr lang="en-GB"/>
              <a:t> test buildings.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The test set is one </a:t>
            </a:r>
            <a:r>
              <a:rPr lang="en-GB" b="1"/>
              <a:t>unseen year</a:t>
            </a:r>
            <a:r>
              <a:rPr lang="en-GB"/>
              <a:t> (year 7) with no State 6 buildings, so we validate by holding out a whole year.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Energy Star rating is 35% missing: we filled gaps with </a:t>
            </a:r>
            <a:r>
              <a:rPr lang="en-GB" b="1"/>
              <a:t>training-only medians</a:t>
            </a:r>
            <a:r>
              <a:rPr lang="en-GB"/>
              <a:t> and added "was missing" flags (no rows dropped).</a:t>
            </a:r>
          </a:p>
          <a:p>
            <a:r>
              <a:rPr lang="en-GB"/>
              <a:t>On the test set, </a:t>
            </a:r>
            <a:r>
              <a:rPr lang="en-GB" b="1"/>
              <a:t>Energy Star rating</a:t>
            </a:r>
            <a:r>
              <a:rPr lang="en-GB"/>
              <a:t> has the strongest correlation with site EUI (</a:t>
            </a:r>
            <a:r>
              <a:rPr lang="en-GB" b="1"/>
              <a:t>−0.54</a:t>
            </a:r>
            <a:r>
              <a:rPr lang="en-GB"/>
              <a:t>). Climate variables form tightly correlated blocks.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A10662-ADB8-2DBD-1F32-1C9D75886485}"/>
              </a:ext>
            </a:extLst>
          </p:cNvPr>
          <p:cNvSpPr/>
          <p:nvPr/>
        </p:nvSpPr>
        <p:spPr>
          <a:xfrm>
            <a:off x="0" y="6667018"/>
            <a:ext cx="7396223" cy="1909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433619-A6F6-F8D6-F926-32461591BF21}"/>
              </a:ext>
            </a:extLst>
          </p:cNvPr>
          <p:cNvSpPr/>
          <p:nvPr/>
        </p:nvSpPr>
        <p:spPr>
          <a:xfrm>
            <a:off x="7396223" y="6476036"/>
            <a:ext cx="4795777" cy="1909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0F81AA0-9792-A1FF-E28E-8D6C970D75F9}"/>
              </a:ext>
            </a:extLst>
          </p:cNvPr>
          <p:cNvSpPr/>
          <p:nvPr/>
        </p:nvSpPr>
        <p:spPr>
          <a:xfrm>
            <a:off x="429416" y="542931"/>
            <a:ext cx="5056983" cy="1176284"/>
          </a:xfrm>
          <a:prstGeom prst="roundRect">
            <a:avLst>
              <a:gd name="adj" fmla="val 9060"/>
            </a:avLst>
          </a:prstGeom>
          <a:blipFill dpi="0" rotWithShape="1">
            <a:blip r:embed="rId3">
              <a:alphaModFix amt="15000"/>
            </a:blip>
            <a:srcRect/>
            <a:tile tx="0" ty="0" sx="100000" sy="100000" flip="none" algn="tl"/>
          </a:blipFill>
          <a:ln w="12700">
            <a:gradFill flip="none" rotWithShape="1">
              <a:gsLst>
                <a:gs pos="55000">
                  <a:schemeClr val="tx1">
                    <a:alpha val="0"/>
                  </a:schemeClr>
                </a:gs>
                <a:gs pos="0">
                  <a:schemeClr val="tx1"/>
                </a:gs>
              </a:gsLst>
              <a:lin ang="2700000" scaled="0"/>
              <a:tileRect/>
            </a:gra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24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A97C99-86DB-C12E-7479-A43916D5A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662" y="925828"/>
            <a:ext cx="4886738" cy="410490"/>
          </a:xfrm>
        </p:spPr>
        <p:txBody>
          <a:bodyPr>
            <a:noAutofit/>
          </a:bodyPr>
          <a:lstStyle/>
          <a:p>
            <a:r>
              <a:rPr lang="en-CA" sz="3200"/>
              <a:t>Exploratory Data Analysis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7414639-0622-C551-4EBB-68BFC780D7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4888" y="591330"/>
            <a:ext cx="6507112" cy="5693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101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49FCB-F306-B453-CE2E-3D1698534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E047E1-2EC3-13C8-9C7F-F84AFFEA6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417" y="2133600"/>
            <a:ext cx="5486400" cy="4305300"/>
          </a:xfrm>
        </p:spPr>
        <p:txBody>
          <a:bodyPr/>
          <a:lstStyle/>
          <a:p>
            <a:r>
              <a:rPr lang="en-GB" b="1"/>
              <a:t>Gradient-boosted regression trees</a:t>
            </a:r>
            <a:r>
              <a:rPr lang="en-GB"/>
              <a:t> (MATLAB </a:t>
            </a:r>
            <a:r>
              <a:rPr lang="en-GB" b="1"/>
              <a:t>LSBoost</a:t>
            </a:r>
            <a:r>
              <a:rPr lang="en-GB"/>
              <a:t>, the native XGBoost-family method): mixed numeric and categorical data, no scaling.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/>
              <a:t>Tree</a:t>
            </a:r>
            <a:r>
              <a:rPr lang="en-GB"/>
              <a:t> baseline → </a:t>
            </a:r>
            <a:r>
              <a:rPr lang="en-GB" b="1"/>
              <a:t>LSBoost v1</a:t>
            </a:r>
            <a:r>
              <a:rPr lang="en-GB"/>
              <a:t> (all features) → </a:t>
            </a:r>
            <a:r>
              <a:rPr lang="en-GB" b="1"/>
              <a:t>v2</a:t>
            </a:r>
            <a:r>
              <a:rPr lang="en-GB"/>
              <a:t> (shrinkage) → </a:t>
            </a:r>
            <a:r>
              <a:rPr lang="en-GB" b="1"/>
              <a:t>v3</a:t>
            </a:r>
            <a:r>
              <a:rPr lang="en-GB"/>
              <a:t> (feature selection: drop 36 monthly temperatures)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Engineered features: building age, floor area × heating/cooling degree days, Energy Star × floor area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/>
              <a:t>Leave-one-year-out</a:t>
            </a:r>
            <a:r>
              <a:rPr lang="en-GB"/>
              <a:t> validation, with cleaning refit inside every fold (no leakage)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9B36A38-96AF-8C92-72B8-F2CC0ABB5C04}"/>
              </a:ext>
            </a:extLst>
          </p:cNvPr>
          <p:cNvSpPr/>
          <p:nvPr/>
        </p:nvSpPr>
        <p:spPr>
          <a:xfrm>
            <a:off x="0" y="6667018"/>
            <a:ext cx="7396223" cy="1909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57519CA-6EBA-5368-DEF2-CFBB473E6555}"/>
              </a:ext>
            </a:extLst>
          </p:cNvPr>
          <p:cNvSpPr/>
          <p:nvPr/>
        </p:nvSpPr>
        <p:spPr>
          <a:xfrm>
            <a:off x="7396223" y="6476036"/>
            <a:ext cx="4795777" cy="1909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6EC249A-0DD8-D8F7-DA17-D9871D463744}"/>
              </a:ext>
            </a:extLst>
          </p:cNvPr>
          <p:cNvSpPr/>
          <p:nvPr/>
        </p:nvSpPr>
        <p:spPr>
          <a:xfrm>
            <a:off x="429417" y="542931"/>
            <a:ext cx="4032676" cy="1176284"/>
          </a:xfrm>
          <a:prstGeom prst="roundRect">
            <a:avLst>
              <a:gd name="adj" fmla="val 9060"/>
            </a:avLst>
          </a:prstGeom>
          <a:blipFill dpi="0" rotWithShape="1">
            <a:blip r:embed="rId3">
              <a:alphaModFix amt="15000"/>
            </a:blip>
            <a:srcRect/>
            <a:tile tx="0" ty="0" sx="100000" sy="100000" flip="none" algn="tl"/>
          </a:blipFill>
          <a:ln w="12700">
            <a:gradFill flip="none" rotWithShape="1">
              <a:gsLst>
                <a:gs pos="55000">
                  <a:schemeClr val="tx1">
                    <a:alpha val="0"/>
                  </a:schemeClr>
                </a:gs>
                <a:gs pos="0">
                  <a:schemeClr val="tx1"/>
                </a:gs>
              </a:gsLst>
              <a:lin ang="2700000" scaled="0"/>
              <a:tileRect/>
            </a:gra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24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F0A21D-297E-D00E-E051-3B2CBAE94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662" y="925828"/>
            <a:ext cx="4032676" cy="410490"/>
          </a:xfrm>
        </p:spPr>
        <p:txBody>
          <a:bodyPr>
            <a:noAutofit/>
          </a:bodyPr>
          <a:lstStyle/>
          <a:p>
            <a:r>
              <a:rPr lang="en-CA" sz="3200"/>
              <a:t>Model Architecture</a:t>
            </a:r>
          </a:p>
        </p:txBody>
      </p:sp>
      <p:pic>
        <p:nvPicPr>
          <p:cNvPr id="11" name="Validation gap chart" descr="2_validation_g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914400"/>
            <a:ext cx="5394960" cy="348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4954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BC7A7-70EC-89E0-E086-D59A80ACE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C09C2-8974-B414-2A18-FDA2D51A5F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417" y="2133600"/>
            <a:ext cx="4892040" cy="4305300"/>
          </a:xfrm>
        </p:spPr>
        <p:txBody>
          <a:bodyPr/>
          <a:lstStyle/>
          <a:p>
            <a:r>
              <a:rPr lang="en-GB" b="1"/>
              <a:t>LSBoost v3</a:t>
            </a:r>
            <a:r>
              <a:rPr lang="en-GB"/>
              <a:t> is our final model: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LOYO RMSE </a:t>
            </a:r>
            <a:r>
              <a:rPr lang="en-GB" b="1"/>
              <a:t>40.1</a:t>
            </a:r>
            <a:r>
              <a:rPr lang="en-GB"/>
              <a:t>, </a:t>
            </a:r>
            <a:r>
              <a:rPr lang="en-GB" b="1"/>
              <a:t>34%</a:t>
            </a:r>
            <a:r>
              <a:rPr lang="en-GB"/>
              <a:t> lower than a single tree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MAE </a:t>
            </a:r>
            <a:r>
              <a:rPr lang="en-GB" b="1"/>
              <a:t>21.0</a:t>
            </a:r>
            <a:r>
              <a:rPr lang="en-GB"/>
              <a:t> kBtu/ft²/yr and R² </a:t>
            </a:r>
            <a:r>
              <a:rPr lang="en-GB" b="1"/>
              <a:t>0.53</a:t>
            </a:r>
            <a:r>
              <a:rPr lang="en-GB"/>
              <a:t> on years it never saw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Best in </a:t>
            </a:r>
            <a:r>
              <a:rPr lang="en-GB" b="1"/>
              <a:t>5 of 6</a:t>
            </a:r>
            <a:r>
              <a:rPr lang="en-GB"/>
              <a:t> held-out years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Reproducible: a clean rerun gives a byte-identical submission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6388A3D-6E31-916C-4A28-FC37044FB355}"/>
              </a:ext>
            </a:extLst>
          </p:cNvPr>
          <p:cNvSpPr/>
          <p:nvPr/>
        </p:nvSpPr>
        <p:spPr>
          <a:xfrm>
            <a:off x="0" y="6667018"/>
            <a:ext cx="7396223" cy="1909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469D894-3E55-E3EF-82D0-46D5DFAFEEC8}"/>
              </a:ext>
            </a:extLst>
          </p:cNvPr>
          <p:cNvSpPr/>
          <p:nvPr/>
        </p:nvSpPr>
        <p:spPr>
          <a:xfrm>
            <a:off x="7396223" y="6476036"/>
            <a:ext cx="4795777" cy="1909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48E58F0-2CA0-EBB1-7DD7-63B4DF784CC1}"/>
              </a:ext>
            </a:extLst>
          </p:cNvPr>
          <p:cNvSpPr/>
          <p:nvPr/>
        </p:nvSpPr>
        <p:spPr>
          <a:xfrm>
            <a:off x="429417" y="542931"/>
            <a:ext cx="4032676" cy="1176284"/>
          </a:xfrm>
          <a:prstGeom prst="roundRect">
            <a:avLst>
              <a:gd name="adj" fmla="val 9060"/>
            </a:avLst>
          </a:prstGeom>
          <a:blipFill dpi="0" rotWithShape="1">
            <a:blip r:embed="rId3">
              <a:alphaModFix amt="15000"/>
            </a:blip>
            <a:srcRect/>
            <a:tile tx="0" ty="0" sx="100000" sy="100000" flip="none" algn="tl"/>
          </a:blipFill>
          <a:ln w="12700">
            <a:gradFill flip="none" rotWithShape="1">
              <a:gsLst>
                <a:gs pos="55000">
                  <a:schemeClr val="tx1">
                    <a:alpha val="0"/>
                  </a:schemeClr>
                </a:gs>
                <a:gs pos="0">
                  <a:schemeClr val="tx1"/>
                </a:gs>
              </a:gsLst>
              <a:lin ang="2700000" scaled="0"/>
              <a:tileRect/>
            </a:gra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24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E8F028-9C90-AABF-EACD-485597202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662" y="925828"/>
            <a:ext cx="4032676" cy="410490"/>
          </a:xfrm>
        </p:spPr>
        <p:txBody>
          <a:bodyPr>
            <a:noAutofit/>
          </a:bodyPr>
          <a:lstStyle/>
          <a:p>
            <a:r>
              <a:rPr lang="en-CA" sz="3200"/>
              <a:t>Results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EF8F0AA-D9F3-0A95-3427-3F19B2390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0249687"/>
              </p:ext>
            </p:extLst>
          </p:nvPr>
        </p:nvGraphicFramePr>
        <p:xfrm>
          <a:off x="5532074" y="1516472"/>
          <a:ext cx="5916980" cy="18542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479245">
                  <a:extLst>
                    <a:ext uri="{9D8B030D-6E8A-4147-A177-3AD203B41FA5}">
                      <a16:colId xmlns:a16="http://schemas.microsoft.com/office/drawing/2014/main" val="1312509222"/>
                    </a:ext>
                  </a:extLst>
                </a:gridCol>
                <a:gridCol w="1479245">
                  <a:extLst>
                    <a:ext uri="{9D8B030D-6E8A-4147-A177-3AD203B41FA5}">
                      <a16:colId xmlns:a16="http://schemas.microsoft.com/office/drawing/2014/main" val="1201783312"/>
                    </a:ext>
                  </a:extLst>
                </a:gridCol>
                <a:gridCol w="1479245">
                  <a:extLst>
                    <a:ext uri="{9D8B030D-6E8A-4147-A177-3AD203B41FA5}">
                      <a16:colId xmlns:a16="http://schemas.microsoft.com/office/drawing/2014/main" val="4020144876"/>
                    </a:ext>
                  </a:extLst>
                </a:gridCol>
                <a:gridCol w="1479245">
                  <a:extLst>
                    <a:ext uri="{9D8B030D-6E8A-4147-A177-3AD203B41FA5}">
                      <a16:colId xmlns:a16="http://schemas.microsoft.com/office/drawing/2014/main" val="11074000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A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err="1"/>
                        <a:t>All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err="1"/>
                        <a:t>Year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err="1"/>
                        <a:t>vs. tree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80891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b="1">
                          <a:solidFill>
                            <a:schemeClr val="tx1"/>
                          </a:solidFill>
                        </a:rPr>
                        <a:t>Tree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A"/>
                        <a:t>61.02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59.37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04489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b="1">
                          <a:solidFill>
                            <a:schemeClr val="tx1"/>
                          </a:solidFill>
                        </a:rPr>
                        <a:t>LSBoost v1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A"/>
                        <a:t>41.06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41.08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−33%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29470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b="1">
                          <a:solidFill>
                            <a:schemeClr val="tx1"/>
                          </a:solidFill>
                        </a:rPr>
                        <a:t>LSBoost v2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A"/>
                        <a:t>41.85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42.57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−31%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58767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b="1">
                          <a:solidFill>
                            <a:schemeClr val="tx1"/>
                          </a:solidFill>
                        </a:rPr>
                        <a:t>LSBoost v3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A"/>
                        <a:t>40.12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41.31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−34%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7996014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663050F-8CD2-3FBD-6C05-0DF0F366B857}"/>
              </a:ext>
            </a:extLst>
          </p:cNvPr>
          <p:cNvSpPr txBox="1"/>
          <p:nvPr/>
        </p:nvSpPr>
        <p:spPr>
          <a:xfrm>
            <a:off x="6223000" y="677333"/>
            <a:ext cx="4754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Leave-one-year-out (official model)</a:t>
            </a:r>
          </a:p>
        </p:txBody>
      </p:sp>
      <p:pic>
        <p:nvPicPr>
          <p:cNvPr id="11" name="Model journey chart" descr="11_model_journ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5352" y="3840480"/>
            <a:ext cx="4078603" cy="246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4058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BC7A7-70EC-89E0-E086-D59A80ACE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C09C2-8974-B414-2A18-FDA2D51A5F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417" y="2133600"/>
            <a:ext cx="4892040" cy="4305300"/>
          </a:xfrm>
        </p:spPr>
        <p:txBody>
          <a:bodyPr/>
          <a:lstStyle/>
          <a:p>
            <a:r>
              <a:rPr lang="en-GB" dirty="0"/>
              <a:t>Controlled experiment: same data and folds, only the model changes.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M1</a:t>
            </a:r>
            <a:r>
              <a:rPr lang="en-GB" dirty="0"/>
              <a:t>: </a:t>
            </a:r>
            <a:r>
              <a:rPr lang="en-GB" dirty="0" err="1"/>
              <a:t>LSBoost</a:t>
            </a:r>
            <a:r>
              <a:rPr lang="en-GB" dirty="0"/>
              <a:t>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single regression tree, all cleaned factors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M2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single regression tree : </a:t>
            </a:r>
            <a:r>
              <a:rPr lang="en-GB" dirty="0" err="1"/>
              <a:t>LSBoost</a:t>
            </a:r>
            <a:r>
              <a:rPr lang="en-GB" dirty="0"/>
              <a:t>, 8 selected factors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M3</a:t>
            </a:r>
            <a:r>
              <a:rPr lang="en-GB" dirty="0"/>
              <a:t>: </a:t>
            </a:r>
            <a:r>
              <a:rPr lang="en-GB" dirty="0" err="1"/>
              <a:t>LSBoost</a:t>
            </a:r>
            <a:r>
              <a:rPr lang="en-GB" dirty="0"/>
              <a:t> (300 Trees), 8 selected factors</a:t>
            </a:r>
          </a:p>
          <a:p>
            <a:r>
              <a:rPr lang="en-GB" dirty="0"/>
              <a:t>Boosting on selected features wins on </a:t>
            </a:r>
            <a:r>
              <a:rPr lang="en-GB" b="1" dirty="0"/>
              <a:t>every metric</a:t>
            </a:r>
            <a:r>
              <a:rPr lang="en-GB" dirty="0"/>
              <a:t> under both validations, consistent with the official result.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6388A3D-6E31-916C-4A28-FC37044FB355}"/>
              </a:ext>
            </a:extLst>
          </p:cNvPr>
          <p:cNvSpPr/>
          <p:nvPr/>
        </p:nvSpPr>
        <p:spPr>
          <a:xfrm>
            <a:off x="0" y="6667018"/>
            <a:ext cx="7396223" cy="1909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469D894-3E55-E3EF-82D0-46D5DFAFEEC8}"/>
              </a:ext>
            </a:extLst>
          </p:cNvPr>
          <p:cNvSpPr/>
          <p:nvPr/>
        </p:nvSpPr>
        <p:spPr>
          <a:xfrm>
            <a:off x="7396223" y="6476036"/>
            <a:ext cx="4795777" cy="1909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48E58F0-2CA0-EBB1-7DD7-63B4DF784CC1}"/>
              </a:ext>
            </a:extLst>
          </p:cNvPr>
          <p:cNvSpPr/>
          <p:nvPr/>
        </p:nvSpPr>
        <p:spPr>
          <a:xfrm>
            <a:off x="429417" y="542931"/>
            <a:ext cx="4032676" cy="1176284"/>
          </a:xfrm>
          <a:prstGeom prst="roundRect">
            <a:avLst>
              <a:gd name="adj" fmla="val 9060"/>
            </a:avLst>
          </a:prstGeom>
          <a:blipFill dpi="0" rotWithShape="1">
            <a:blip r:embed="rId3">
              <a:alphaModFix amt="15000"/>
            </a:blip>
            <a:srcRect/>
            <a:tile tx="0" ty="0" sx="100000" sy="100000" flip="none" algn="tl"/>
          </a:blipFill>
          <a:ln w="12700">
            <a:gradFill flip="none" rotWithShape="1">
              <a:gsLst>
                <a:gs pos="55000">
                  <a:schemeClr val="tx1">
                    <a:alpha val="0"/>
                  </a:schemeClr>
                </a:gs>
                <a:gs pos="0">
                  <a:schemeClr val="tx1"/>
                </a:gs>
              </a:gsLst>
              <a:lin ang="2700000" scaled="0"/>
              <a:tileRect/>
            </a:gra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24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E8F028-9C90-AABF-EACD-485597202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662" y="925828"/>
            <a:ext cx="4032676" cy="410490"/>
          </a:xfrm>
        </p:spPr>
        <p:txBody>
          <a:bodyPr>
            <a:noAutofit/>
          </a:bodyPr>
          <a:lstStyle/>
          <a:p>
            <a:r>
              <a:rPr lang="en-CA" sz="3200"/>
              <a:t>Model Comparison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EF8F0AA-D9F3-0A95-3427-3F19B2390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3028419"/>
              </p:ext>
            </p:extLst>
          </p:nvPr>
        </p:nvGraphicFramePr>
        <p:xfrm>
          <a:off x="5523910" y="1165500"/>
          <a:ext cx="5916980" cy="18542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479245">
                  <a:extLst>
                    <a:ext uri="{9D8B030D-6E8A-4147-A177-3AD203B41FA5}">
                      <a16:colId xmlns:a16="http://schemas.microsoft.com/office/drawing/2014/main" val="1312509222"/>
                    </a:ext>
                  </a:extLst>
                </a:gridCol>
                <a:gridCol w="1479245">
                  <a:extLst>
                    <a:ext uri="{9D8B030D-6E8A-4147-A177-3AD203B41FA5}">
                      <a16:colId xmlns:a16="http://schemas.microsoft.com/office/drawing/2014/main" val="1201783312"/>
                    </a:ext>
                  </a:extLst>
                </a:gridCol>
                <a:gridCol w="1479245">
                  <a:extLst>
                    <a:ext uri="{9D8B030D-6E8A-4147-A177-3AD203B41FA5}">
                      <a16:colId xmlns:a16="http://schemas.microsoft.com/office/drawing/2014/main" val="4020144876"/>
                    </a:ext>
                  </a:extLst>
                </a:gridCol>
                <a:gridCol w="1479245">
                  <a:extLst>
                    <a:ext uri="{9D8B030D-6E8A-4147-A177-3AD203B41FA5}">
                      <a16:colId xmlns:a16="http://schemas.microsoft.com/office/drawing/2014/main" val="11074000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A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err="1"/>
                        <a:t>M1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err="1"/>
                        <a:t>M2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err="1"/>
                        <a:t>M3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80891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b="1">
                          <a:solidFill>
                            <a:schemeClr val="tx1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A"/>
                        <a:t>23.3941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23.3385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21.0390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04489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b="1">
                          <a:solidFill>
                            <a:schemeClr val="tx1"/>
                          </a:solidFill>
                        </a:rPr>
                        <a:t>MSE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A"/>
                        <a:t>2044.3723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2024.7375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1695.0047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29470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b="1">
                          <a:solidFill>
                            <a:schemeClr val="tx1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A"/>
                        <a:t>45.2147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44.9971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41.1704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58767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b="1">
                          <a:solidFill>
                            <a:schemeClr val="tx1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A"/>
                        <a:t>0.3976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0.4034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0.5005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7996014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663050F-8CD2-3FBD-6C05-0DF0F366B857}"/>
              </a:ext>
            </a:extLst>
          </p:cNvPr>
          <p:cNvSpPr txBox="1"/>
          <p:nvPr/>
        </p:nvSpPr>
        <p:spPr>
          <a:xfrm>
            <a:off x="6223000" y="677333"/>
            <a:ext cx="3130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Five-fold pooled out-of-fold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253B080-ABE3-FF86-A88A-F3C14057C6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6068420"/>
              </p:ext>
            </p:extLst>
          </p:nvPr>
        </p:nvGraphicFramePr>
        <p:xfrm>
          <a:off x="5523910" y="4114558"/>
          <a:ext cx="5916980" cy="18542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479245">
                  <a:extLst>
                    <a:ext uri="{9D8B030D-6E8A-4147-A177-3AD203B41FA5}">
                      <a16:colId xmlns:a16="http://schemas.microsoft.com/office/drawing/2014/main" val="839446683"/>
                    </a:ext>
                  </a:extLst>
                </a:gridCol>
                <a:gridCol w="1479245">
                  <a:extLst>
                    <a:ext uri="{9D8B030D-6E8A-4147-A177-3AD203B41FA5}">
                      <a16:colId xmlns:a16="http://schemas.microsoft.com/office/drawing/2014/main" val="3842009900"/>
                    </a:ext>
                  </a:extLst>
                </a:gridCol>
                <a:gridCol w="1479245">
                  <a:extLst>
                    <a:ext uri="{9D8B030D-6E8A-4147-A177-3AD203B41FA5}">
                      <a16:colId xmlns:a16="http://schemas.microsoft.com/office/drawing/2014/main" val="2747137177"/>
                    </a:ext>
                  </a:extLst>
                </a:gridCol>
                <a:gridCol w="1479245">
                  <a:extLst>
                    <a:ext uri="{9D8B030D-6E8A-4147-A177-3AD203B41FA5}">
                      <a16:colId xmlns:a16="http://schemas.microsoft.com/office/drawing/2014/main" val="36106753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A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err="1"/>
                        <a:t>M1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err="1"/>
                        <a:t>M2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err="1"/>
                        <a:t>M3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22453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b="1">
                          <a:solidFill>
                            <a:schemeClr val="tx1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A"/>
                        <a:t>22.7927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22.7324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21.0440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5406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b="1">
                          <a:solidFill>
                            <a:schemeClr val="tx1"/>
                          </a:solidFill>
                        </a:rPr>
                        <a:t>MSE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A"/>
                        <a:t>2023.2171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2003.8279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1842.3056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5655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b="1">
                          <a:solidFill>
                            <a:schemeClr val="tx1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A"/>
                        <a:t>44.9802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44.7641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42.9221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1133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b="1">
                          <a:solidFill>
                            <a:schemeClr val="tx1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A"/>
                        <a:t>0.3777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0.3836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0.4333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2152720"/>
                  </a:ext>
                </a:extLst>
              </a:tr>
            </a:tbl>
          </a:graphicData>
        </a:graphic>
      </p:graphicFrame>
      <p:sp>
        <p:nvSpPr>
          <p:cNvPr id="6" name="TextBox 8">
            <a:extLst>
              <a:ext uri="{FF2B5EF4-FFF2-40B4-BE49-F238E27FC236}">
                <a16:creationId xmlns:a16="http://schemas.microsoft.com/office/drawing/2014/main" id="{7663050F-8CD2-3FBD-6C05-0DF0F366B857}"/>
              </a:ext>
            </a:extLst>
          </p:cNvPr>
          <p:cNvSpPr txBox="1"/>
          <p:nvPr/>
        </p:nvSpPr>
        <p:spPr>
          <a:xfrm>
            <a:off x="6227064" y="3639312"/>
            <a:ext cx="5120640" cy="3657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Latest-year holdout (train years 1–5, predict 6)</a:t>
            </a:r>
          </a:p>
        </p:txBody>
      </p:sp>
    </p:spTree>
    <p:extLst>
      <p:ext uri="{BB962C8B-B14F-4D97-AF65-F5344CB8AC3E}">
        <p14:creationId xmlns:p14="http://schemas.microsoft.com/office/powerpoint/2010/main" val="4063405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9748B-7EB9-D056-87BD-44BE8108B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B6342-1C0A-B3F6-4FD0-561C63793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417" y="2133600"/>
            <a:ext cx="3840480" cy="4305300"/>
          </a:xfrm>
        </p:spPr>
        <p:txBody>
          <a:bodyPr/>
          <a:lstStyle/>
          <a:p>
            <a:r>
              <a:rPr lang="en-GB"/>
              <a:t>Residuals (predicted − actual) for all three models, five-fold out-of-fold: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Centred on zero (M3 mean bias </a:t>
            </a:r>
            <a:r>
              <a:rPr lang="en-GB" b="1"/>
              <a:t>0.03</a:t>
            </a:r>
            <a:r>
              <a:rPr lang="en-GB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M3 has the tightest spread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Long negative tail: a few buildings use </a:t>
            </a:r>
            <a:r>
              <a:rPr lang="en-GB" b="1"/>
              <a:t>far more</a:t>
            </a:r>
            <a:r>
              <a:rPr lang="en-GB"/>
              <a:t> than predicted</a:t>
            </a:r>
          </a:p>
          <a:p>
            <a:r>
              <a:rPr lang="en-GB"/>
              <a:t>Those outliers are exactly what </a:t>
            </a:r>
            <a:r>
              <a:rPr lang="en-GB" b="1"/>
              <a:t>Retrofit Radar</a:t>
            </a:r>
            <a:r>
              <a:rPr lang="en-GB"/>
              <a:t> flags.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E0B18FE-2BD1-686C-E4AD-25E6D06D2806}"/>
              </a:ext>
            </a:extLst>
          </p:cNvPr>
          <p:cNvSpPr/>
          <p:nvPr/>
        </p:nvSpPr>
        <p:spPr>
          <a:xfrm>
            <a:off x="0" y="6667018"/>
            <a:ext cx="7396223" cy="1909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DD58861-5655-33F9-0D4B-A80C66085407}"/>
              </a:ext>
            </a:extLst>
          </p:cNvPr>
          <p:cNvSpPr/>
          <p:nvPr/>
        </p:nvSpPr>
        <p:spPr>
          <a:xfrm>
            <a:off x="7396223" y="6476036"/>
            <a:ext cx="4795777" cy="1909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4622509-1671-6A58-3585-A524E5E968C9}"/>
              </a:ext>
            </a:extLst>
          </p:cNvPr>
          <p:cNvSpPr/>
          <p:nvPr/>
        </p:nvSpPr>
        <p:spPr>
          <a:xfrm>
            <a:off x="429417" y="542931"/>
            <a:ext cx="4032676" cy="1176284"/>
          </a:xfrm>
          <a:prstGeom prst="roundRect">
            <a:avLst>
              <a:gd name="adj" fmla="val 9060"/>
            </a:avLst>
          </a:prstGeom>
          <a:blipFill dpi="0" rotWithShape="1">
            <a:blip r:embed="rId3">
              <a:alphaModFix amt="15000"/>
            </a:blip>
            <a:srcRect/>
            <a:tile tx="0" ty="0" sx="100000" sy="100000" flip="none" algn="tl"/>
          </a:blipFill>
          <a:ln w="12700">
            <a:gradFill flip="none" rotWithShape="1">
              <a:gsLst>
                <a:gs pos="55000">
                  <a:schemeClr val="tx1">
                    <a:alpha val="0"/>
                  </a:schemeClr>
                </a:gs>
                <a:gs pos="0">
                  <a:schemeClr val="tx1"/>
                </a:gs>
              </a:gsLst>
              <a:lin ang="2700000" scaled="0"/>
              <a:tileRect/>
            </a:gra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24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F80E1E-495A-BDC9-28B0-C8700325B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662" y="925828"/>
            <a:ext cx="4032676" cy="410490"/>
          </a:xfrm>
        </p:spPr>
        <p:txBody>
          <a:bodyPr>
            <a:noAutofit/>
          </a:bodyPr>
          <a:lstStyle/>
          <a:p>
            <a:r>
              <a:rPr lang="en-CA" sz="3200"/>
              <a:t>Results - Residual</a:t>
            </a:r>
          </a:p>
        </p:txBody>
      </p:sp>
      <p:pic>
        <p:nvPicPr>
          <p:cNvPr id="11" name="M3 residuals" descr="residual_diagnosti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502920"/>
            <a:ext cx="7223760" cy="3284208"/>
          </a:xfrm>
          <a:prstGeom prst="rect">
            <a:avLst/>
          </a:prstGeom>
        </p:spPr>
      </p:pic>
      <p:pic>
        <p:nvPicPr>
          <p:cNvPr id="12" name="M1 residuals" descr="residual_diagnosti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343400"/>
            <a:ext cx="3520440" cy="1600532"/>
          </a:xfrm>
          <a:prstGeom prst="rect">
            <a:avLst/>
          </a:prstGeom>
        </p:spPr>
      </p:pic>
      <p:pic>
        <p:nvPicPr>
          <p:cNvPr id="13" name="M2 residuals" descr="residual_diagnostic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20" y="4343400"/>
            <a:ext cx="3520440" cy="16005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663050F-8CD2-3FBD-6C05-0DF0F366B857}"/>
              </a:ext>
            </a:extLst>
          </p:cNvPr>
          <p:cNvSpPr txBox="1"/>
          <p:nvPr/>
        </p:nvSpPr>
        <p:spPr>
          <a:xfrm>
            <a:off x="4572000" y="3794760"/>
            <a:ext cx="7223760" cy="3657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/>
              <a:t>M3: LSBoost, selected factors (best)</a:t>
            </a:r>
          </a:p>
        </p:txBody>
      </p:sp>
      <p:sp>
        <p:nvSpPr>
          <p:cNvPr id="5" name="TextBox 8">
            <a:extLst>
              <a:ext uri="{FF2B5EF4-FFF2-40B4-BE49-F238E27FC236}">
                <a16:creationId xmlns:a16="http://schemas.microsoft.com/office/drawing/2014/main" id="{7663050F-8CD2-3FBD-6C05-0DF0F366B857}"/>
              </a:ext>
            </a:extLst>
          </p:cNvPr>
          <p:cNvSpPr txBox="1"/>
          <p:nvPr/>
        </p:nvSpPr>
        <p:spPr>
          <a:xfrm>
            <a:off x="4572000" y="5943600"/>
            <a:ext cx="3520440" cy="3200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200"/>
              <a:t>M1: tree, all factors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7663050F-8CD2-3FBD-6C05-0DF0F366B857}"/>
              </a:ext>
            </a:extLst>
          </p:cNvPr>
          <p:cNvSpPr txBox="1"/>
          <p:nvPr/>
        </p:nvSpPr>
        <p:spPr>
          <a:xfrm>
            <a:off x="8275320" y="5943600"/>
            <a:ext cx="3520440" cy="3200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200"/>
              <a:t>M2: tree, selected factors</a:t>
            </a:r>
          </a:p>
        </p:txBody>
      </p:sp>
    </p:spTree>
    <p:extLst>
      <p:ext uri="{BB962C8B-B14F-4D97-AF65-F5344CB8AC3E}">
        <p14:creationId xmlns:p14="http://schemas.microsoft.com/office/powerpoint/2010/main" val="4191779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60DCB3-8BDE-9907-BC86-35D7AB3524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417" y="2133600"/>
            <a:ext cx="5286157" cy="4305300"/>
          </a:xfrm>
        </p:spPr>
        <p:txBody>
          <a:bodyPr>
            <a:normAutofit/>
          </a:bodyPr>
          <a:lstStyle/>
          <a:p>
            <a:r>
              <a:rPr lang="en-GB" b="1"/>
              <a:t>Retrofit Radar</a:t>
            </a:r>
            <a:r>
              <a:rPr lang="en-GB"/>
              <a:t> compares each building's actual energy use with what the model expects for similar buildings: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/>
              <a:t>1,316</a:t>
            </a:r>
            <a:r>
              <a:rPr lang="en-GB"/>
              <a:t> buildings use 50%+ more than expected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The top 50 account for </a:t>
            </a:r>
            <a:r>
              <a:rPr lang="en-GB" b="1"/>
              <a:t>1,573 GWh/yr</a:t>
            </a:r>
            <a:r>
              <a:rPr lang="en-GB"/>
              <a:t> of excess energy</a:t>
            </a:r>
          </a:p>
          <a:p>
            <a:r>
              <a:rPr lang="en-GB" b="1"/>
              <a:t>3D simulator</a:t>
            </a:r>
            <a:r>
              <a:rPr lang="en-GB"/>
              <a:t>: click NTU's The Hive or The Arc and our trained model runs </a:t>
            </a:r>
            <a:r>
              <a:rPr lang="en-GB" b="1"/>
              <a:t>in the browser</a:t>
            </a:r>
            <a:r>
              <a:rPr lang="en-GB"/>
              <a:t>, matching MATLAB exactly.</a:t>
            </a:r>
          </a:p>
          <a:p>
            <a:r>
              <a:rPr lang="en-GB"/>
              <a:t>Open </a:t>
            </a:r>
            <a:r>
              <a:rPr lang="en-GB" b="1"/>
              <a:t>index.html</a:t>
            </a:r>
            <a:r>
              <a:rPr lang="en-GB"/>
              <a:t> in the repository for the dashboard, simulator and report.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CC632E-460C-6B39-7224-621405DC60DE}"/>
              </a:ext>
            </a:extLst>
          </p:cNvPr>
          <p:cNvSpPr/>
          <p:nvPr/>
        </p:nvSpPr>
        <p:spPr>
          <a:xfrm>
            <a:off x="0" y="6667018"/>
            <a:ext cx="7396223" cy="19098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D091A1-BC22-2A30-F9A2-E89030970A10}"/>
              </a:ext>
            </a:extLst>
          </p:cNvPr>
          <p:cNvSpPr/>
          <p:nvPr/>
        </p:nvSpPr>
        <p:spPr>
          <a:xfrm>
            <a:off x="7396223" y="6476036"/>
            <a:ext cx="4795777" cy="19098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C3B9FED-5597-81B6-1A44-5924D54EC93D}"/>
              </a:ext>
            </a:extLst>
          </p:cNvPr>
          <p:cNvSpPr/>
          <p:nvPr/>
        </p:nvSpPr>
        <p:spPr>
          <a:xfrm>
            <a:off x="429417" y="542931"/>
            <a:ext cx="4032676" cy="1176284"/>
          </a:xfrm>
          <a:prstGeom prst="roundRect">
            <a:avLst>
              <a:gd name="adj" fmla="val 9060"/>
            </a:avLst>
          </a:prstGeom>
          <a:blipFill dpi="0" rotWithShape="1">
            <a:blip r:embed="rId3">
              <a:alphaModFix amt="15000"/>
            </a:blip>
            <a:srcRect/>
            <a:tile tx="0" ty="0" sx="100000" sy="100000" flip="none" algn="tl"/>
          </a:blipFill>
          <a:ln w="12700">
            <a:gradFill flip="none" rotWithShape="1">
              <a:gsLst>
                <a:gs pos="55000">
                  <a:schemeClr val="tx1">
                    <a:alpha val="0"/>
                  </a:schemeClr>
                </a:gs>
                <a:gs pos="0">
                  <a:schemeClr val="tx1"/>
                </a:gs>
              </a:gsLst>
              <a:lin ang="2700000" scaled="0"/>
              <a:tileRect/>
            </a:gradFill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2400"/>
              <a:t>z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097E83-CFD4-E8B2-7CF9-DCCFA7B5D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662" y="925828"/>
            <a:ext cx="4032676" cy="410490"/>
          </a:xfrm>
        </p:spPr>
        <p:txBody>
          <a:bodyPr>
            <a:noAutofit/>
          </a:bodyPr>
          <a:lstStyle/>
          <a:p>
            <a:r>
              <a:rPr lang="en-CA" sz="3200"/>
              <a:t>Live Demo</a:t>
            </a:r>
          </a:p>
        </p:txBody>
      </p:sp>
      <p:pic>
        <p:nvPicPr>
          <p:cNvPr id="11" name="Simulator screenshot" descr="sim_dem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914400"/>
            <a:ext cx="5760720" cy="30923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618C61A-1439-1A63-2CFC-9424379C8A51}"/>
              </a:ext>
            </a:extLst>
          </p:cNvPr>
          <p:cNvSpPr txBox="1"/>
          <p:nvPr/>
        </p:nvSpPr>
        <p:spPr>
          <a:xfrm>
            <a:off x="6096000" y="5056745"/>
            <a:ext cx="60995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https://roh00t.github.io/</a:t>
            </a:r>
            <a:r>
              <a:rPr lang="en-US" dirty="0" err="1"/>
              <a:t>MatrixNotFound</a:t>
            </a:r>
            <a:r>
              <a:rPr lang="en-US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40249980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0FE17-EB3A-ECC1-D56F-A9387E0B0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D251E8-CC9D-F03C-DEBB-92E4C7B838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417" y="2133600"/>
            <a:ext cx="5760720" cy="4305300"/>
          </a:xfrm>
        </p:spPr>
        <p:txBody>
          <a:bodyPr/>
          <a:lstStyle/>
          <a:p>
            <a:r>
              <a:rPr lang="en-GB"/>
              <a:t>Our best model is </a:t>
            </a:r>
            <a:r>
              <a:rPr lang="en-GB" b="1"/>
              <a:t>LSBoost v3 (feature selection)</a:t>
            </a:r>
            <a:r>
              <a:rPr lang="en-GB"/>
              <a:t>: LOYO RMSE </a:t>
            </a:r>
            <a:r>
              <a:rPr lang="en-GB" b="1"/>
              <a:t>40.1</a:t>
            </a:r>
            <a:r>
              <a:rPr lang="en-GB"/>
              <a:t>, MAE </a:t>
            </a:r>
            <a:r>
              <a:rPr lang="en-GB" b="1"/>
              <a:t>21.0</a:t>
            </a:r>
            <a:r>
              <a:rPr lang="en-GB"/>
              <a:t>, R² </a:t>
            </a:r>
            <a:r>
              <a:rPr lang="en-GB" b="1"/>
              <a:t>0.53</a:t>
            </a:r>
            <a:r>
              <a:rPr lang="en-GB"/>
              <a:t>, with 34% lower error than a single tree.</a:t>
            </a:r>
          </a:p>
          <a:p>
            <a:endParaRPr lang="en-GB"/>
          </a:p>
          <a:p>
            <a:r>
              <a:rPr lang="en-GB"/>
              <a:t>In real-world use, </a:t>
            </a:r>
            <a:r>
              <a:rPr lang="en-GB" b="1"/>
              <a:t>Retrofit Radar</a:t>
            </a:r>
            <a:r>
              <a:rPr lang="en-GB"/>
              <a:t> turns predictions into a ranked audit list: the buildings using far more energy than their peers.</a:t>
            </a:r>
          </a:p>
          <a:p>
            <a:endParaRPr lang="en-GB"/>
          </a:p>
          <a:p>
            <a:r>
              <a:rPr lang="en-GB"/>
              <a:t>Repository link:</a:t>
            </a:r>
          </a:p>
          <a:p>
            <a:r>
              <a:rPr lang="en-CA">
                <a:hlinkClick r:id="rId3"/>
              </a:rPr>
              <a:t>Roh00t/</a:t>
            </a:r>
            <a:r>
              <a:rPr lang="en-CA" err="1">
                <a:hlinkClick r:id="rId3"/>
              </a:rPr>
              <a:t>MatrixNotFound</a:t>
            </a:r>
            <a:r>
              <a:rPr lang="en-CA">
                <a:hlinkClick r:id="rId3"/>
              </a:rPr>
              <a:t>: </a:t>
            </a:r>
            <a:r>
              <a:rPr lang="en-CA" err="1">
                <a:hlinkClick r:id="rId3"/>
              </a:rPr>
              <a:t>LearnToHack</a:t>
            </a:r>
            <a:endParaRPr lang="en-C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7E347E-8C61-8ECD-0661-6A5624DE7F61}"/>
              </a:ext>
            </a:extLst>
          </p:cNvPr>
          <p:cNvSpPr/>
          <p:nvPr/>
        </p:nvSpPr>
        <p:spPr>
          <a:xfrm>
            <a:off x="0" y="6667018"/>
            <a:ext cx="7396223" cy="19098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C1A8A3-210C-9379-3063-7980EE695192}"/>
              </a:ext>
            </a:extLst>
          </p:cNvPr>
          <p:cNvSpPr/>
          <p:nvPr/>
        </p:nvSpPr>
        <p:spPr>
          <a:xfrm>
            <a:off x="7396223" y="6476036"/>
            <a:ext cx="4795777" cy="19098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58860CD-E8F0-BF3B-575E-AF3E9E666642}"/>
              </a:ext>
            </a:extLst>
          </p:cNvPr>
          <p:cNvSpPr/>
          <p:nvPr/>
        </p:nvSpPr>
        <p:spPr>
          <a:xfrm>
            <a:off x="429417" y="542931"/>
            <a:ext cx="4032676" cy="1176284"/>
          </a:xfrm>
          <a:prstGeom prst="roundRect">
            <a:avLst>
              <a:gd name="adj" fmla="val 9060"/>
            </a:avLst>
          </a:prstGeom>
          <a:blipFill dpi="0" rotWithShape="1">
            <a:blip r:embed="rId4">
              <a:alphaModFix amt="15000"/>
            </a:blip>
            <a:srcRect/>
            <a:tile tx="0" ty="0" sx="100000" sy="100000" flip="none" algn="tl"/>
          </a:blipFill>
          <a:ln w="12700">
            <a:gradFill flip="none" rotWithShape="1">
              <a:gsLst>
                <a:gs pos="55000">
                  <a:schemeClr val="tx1">
                    <a:alpha val="0"/>
                  </a:schemeClr>
                </a:gs>
                <a:gs pos="0">
                  <a:schemeClr val="tx1"/>
                </a:gs>
              </a:gsLst>
              <a:lin ang="2700000" scaled="0"/>
              <a:tileRect/>
            </a:gra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24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5E68E6-22FC-9993-812A-C97A6BF24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662" y="925828"/>
            <a:ext cx="4032676" cy="410490"/>
          </a:xfrm>
        </p:spPr>
        <p:txBody>
          <a:bodyPr>
            <a:noAutofit/>
          </a:bodyPr>
          <a:lstStyle/>
          <a:p>
            <a:r>
              <a:rPr lang="en-CA" sz="3200"/>
              <a:t>Conclusion</a:t>
            </a:r>
          </a:p>
        </p:txBody>
      </p:sp>
      <p:pic>
        <p:nvPicPr>
          <p:cNvPr id="11" name="Retrofit Radar chart" descr="5_retrofit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914400"/>
            <a:ext cx="5303520" cy="3095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940213"/>
      </p:ext>
    </p:extLst>
  </p:cSld>
  <p:clrMapOvr>
    <a:masterClrMapping/>
  </p:clrMapOvr>
</p:sld>
</file>

<file path=ppt/theme/theme1.xml><?xml version="1.0" encoding="utf-8"?>
<a:theme xmlns:a="http://schemas.openxmlformats.org/drawingml/2006/main" name="Film Burn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" id="{4524321E-1019-4E52-AA1C-5D37B75CD749}" vid="{4A46179B-AA1B-40E1-9320-430DA2EBD8E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730065ae-0c4e-4fe2-83da-e378abc56499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72325BEAFE7F9428E5D4763043D7106" ma:contentTypeVersion="14" ma:contentTypeDescription="Create a new document." ma:contentTypeScope="" ma:versionID="57ce1343f97cfe57dc59d062debdbe7c">
  <xsd:schema xmlns:xsd="http://www.w3.org/2001/XMLSchema" xmlns:xs="http://www.w3.org/2001/XMLSchema" xmlns:p="http://schemas.microsoft.com/office/2006/metadata/properties" xmlns:ns3="730065ae-0c4e-4fe2-83da-e378abc56499" xmlns:ns4="25af2e44-3863-4f07-bc1c-5e8baf608108" targetNamespace="http://schemas.microsoft.com/office/2006/metadata/properties" ma:root="true" ma:fieldsID="c0a29f15be03d1a91484707cc95c5a10" ns3:_="" ns4:_="">
    <xsd:import namespace="730065ae-0c4e-4fe2-83da-e378abc56499"/>
    <xsd:import namespace="25af2e44-3863-4f07-bc1c-5e8baf608108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0065ae-0c4e-4fe2-83da-e378abc5649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5af2e44-3863-4f07-bc1c-5e8baf608108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5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AA2BE0D-00EC-41B7-B8C6-AEF807D66DF3}">
  <ds:schemaRefs>
    <ds:schemaRef ds:uri="25af2e44-3863-4f07-bc1c-5e8baf608108"/>
    <ds:schemaRef ds:uri="730065ae-0c4e-4fe2-83da-e378abc56499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55C5025F-1B4F-4EAE-9783-53EFA569F4D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301A5-CA64-4632-8ECA-B441D73308BD}">
  <ds:schemaRefs>
    <ds:schemaRef ds:uri="25af2e44-3863-4f07-bc1c-5e8baf608108"/>
    <ds:schemaRef ds:uri="730065ae-0c4e-4fe2-83da-e378abc5649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723a5a87-f39a-4a22-9247-3fc240c01396}" enabled="0" method="" siteId="{723a5a87-f39a-4a22-9247-3fc240c0139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Words>1340</Words>
  <Application>Microsoft Macintosh PowerPoint</Application>
  <PresentationFormat>Widescreen</PresentationFormat>
  <Paragraphs>137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Neue Haas Grotesk Text Pro</vt:lpstr>
      <vt:lpstr>Wingdings</vt:lpstr>
      <vt:lpstr>Film Burn</vt:lpstr>
      <vt:lpstr>Learn to Hack Hackathon  Group 1 – Matrix Not Found</vt:lpstr>
      <vt:lpstr>Problem Statement</vt:lpstr>
      <vt:lpstr>Exploratory Data Analysis</vt:lpstr>
      <vt:lpstr>Model Architecture</vt:lpstr>
      <vt:lpstr>Results</vt:lpstr>
      <vt:lpstr>Model Comparison</vt:lpstr>
      <vt:lpstr>Results - Residual</vt:lpstr>
      <vt:lpstr>Live Demo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Roberto</dc:creator>
  <cp:lastModifiedBy>ROHIT PANDA</cp:lastModifiedBy>
  <cp:revision>7</cp:revision>
  <dcterms:created xsi:type="dcterms:W3CDTF">2026-10-30T03:22:30Z</dcterms:created>
  <dcterms:modified xsi:type="dcterms:W3CDTF">2026-10-30T07:30:30Z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0x010100072325BEAFE7F9428E5D4763043D7106</vt:lpwstr>
  </property>
</Properties>
</file>