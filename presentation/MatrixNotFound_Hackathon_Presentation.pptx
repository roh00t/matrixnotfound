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58" r:id="rId6"/>
    <p:sldId id="265" r:id="rId7"/>
    <p:sldId id="262" r:id="rId8"/>
    <p:sldId id="268" r:id="rId9"/>
    <p:sldId id="263" r:id="rId10"/>
    <p:sldId id="267" r:id="rId11"/>
    <p:sldId id="269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78E147-5C14-4624-8284-9F37B3C81813}" v="1027" dt="2026-10-30T07:00:59.3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12"/>
    <p:restoredTop sz="94673"/>
  </p:normalViewPr>
  <p:slideViewPr>
    <p:cSldViewPr snapToGrid="0">
      <p:cViewPr varScale="1">
        <p:scale>
          <a:sx n="156" d="100"/>
          <a:sy n="156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FFBCB1-5891-4D26-8FA8-63D3C7913327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81BBE-E16D-483E-8B55-501014EE220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17597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0:00-0:15 (15 s). Hi, we're Group 1, Matrix Not Found: Yeong Sir Chung, Matthew Roberto and Rohit Panda. Our project is Retrofit Radar: predicting building energy use in MATLAB to find which buildings to retrofit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0:15-0:45 (30 s). Buildings are a big share of emissions. The challenge: predict site energy use intensity from building characteristics and weather. Our twist is to use the prediction as a benchmark: a building far above what similar buildings use is a retrofit candidate.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298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4E451-8E8D-64D9-F362-EF4E99CA9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A832B-38CF-74FF-3477-10323BF9C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9D7237-5F52-ACAA-91FF-345566BAD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0:45-1:20 (35 s). Two data findings drove everything. First, the test set is a single year the model never sees, and it has no State 6 buildings, so a random split would flatter us. Second, key fields are missing; we fill them using training data only and keep a flag, because missingness is informative. The heatmap shows Energy Star rating is the strongest single signal at minus 0.54, and the monthly temperatures are near-duplicates of each other.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3CAAD-8613-2ACE-5BB8-CBFC7F87BF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9227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92DD9-2506-3DB7-7FEA-73F1451CF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2156B-6D5D-EDD5-A8D5-982164119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97BAE-0BC1-532A-7DF7-542A93F22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1:20-2:00 (40 s). We use LSBoost, MATLAB's own gradient boosting, the same family as XGBoost. We iterated from a single tree to three boosted versions. Validation is the key design choice: we hold out one whole year at a time, six times. The chart shows why: on the same tree, random five-fold says 50, but holding out a year says 61. Random folds hide 10.7 points of error, because the same building appears in several years.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7F30DD-F779-F78E-94FB-5EE5C7261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3132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2:00-2:35 (35 s). Results under leave-one-year-out. Boosting cuts the error by a third versus a single tree. Shrinkage, v2, did not help, and we kept that result to show the iteration honestly. Feature selection, v3, dropping the monthly temperatures, gave the best score: RMSE 40.1, MAE 21, R squared 0.53, best in five of six held-out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3CBBB-D5ED-8CAE-DDD1-FA417DD7A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E8F1C-D90E-AA2B-F978-7D24A58C7E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43D08-3932-725E-6305-407E1A573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2:35-3:00 (25 s). A second, controlled experiment by the team: same folds, only the model changes. Feature selection helps a little, boosting helps a lot: Model 3, LSBoost on eight selected factors, wins on every metric, both on five-fold and on the latest-year holdout. Two independent experiments agree.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D2631-DE0C-012F-4AFE-49F79C7F0F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651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05B9-9E52-07DF-2A50-4E0D4B03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59ADE-ECFD-4C7F-9E86-C7DC4B160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190B7C-E5C7-3EAD-B135-F9FF5223C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3:00-3:25 (25 s). Residuals for all three models. They are centred on zero, so the model is not biased, and Model 3 is the tightest. The long negative tail is the interesting part: a small number of buildings use far more energy than the model expects. That is exactly the signal we turn into a product.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3F8AD-6CF3-36D6-2626-6BF1FA376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90860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3:25-4:40 (75 s). SWITCH TO THE BROWSER: open index.html. (1) Dashboard: model iteration chart, then the Retrofit Radar shortlist. 1,316 buildings use at least 50% more than expected. (2) Simulator: click The Hive, press Run model: about 109 kBtu per square foot, roughly 513 kW average. Drag floor area or Energy Star to show the curve update live. The 300-tree model was exported from MATLAB and matches it exactly. Then come back to the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B1622-0CD3-EFCA-0A0E-4254C285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DA870-DF8E-898F-B076-E347862BDE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E5F79-68CA-99F0-E0AC-AC0185D61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4:40-5:00 (20 s). To wrap up: LSBoost v3 is our final model, validated the hard way on unseen years, and Retrofit Radar turns it into a list of buildings to audit first. Everything is in our repository. Thank you, happy to take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882D8-92A9-019C-58FC-6D62CAC29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81BBE-E16D-483E-8B55-501014EE2200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896244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926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053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625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88580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2308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8975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58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8656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5922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39791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619138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CA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1703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1802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576088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774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7541862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125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7612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184760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63158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316700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97398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85387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92633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95427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12066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06394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9462C90C-D55E-4355-A620-70AD369B86FF}" type="datetimeFigureOut">
              <a:rPr lang="en-CA" smtClean="0"/>
              <a:t>2026-10-30</a:t>
            </a:fld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D5EC03A-9AE2-401C-8245-ACDB28E0B17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634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roh00t.github.io/MatrixNotFound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eg"/><Relationship Id="rId4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eg"/><Relationship Id="rId4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eg"/><Relationship Id="rId4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jpe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e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eg"/><Relationship Id="rId4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Roh00t/MatrixNotFound" TargetMode="External"/><Relationship Id="rId4" Type="http://schemas.openxmlformats.org/officeDocument/2006/relationships/image" Target="../media/image15.jpeg"/><Relationship Id="rId5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CBEC-A6E4-A69B-4AD4-1D38B0E41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326" y="1354819"/>
            <a:ext cx="4800600" cy="2762187"/>
          </a:xfrm>
        </p:spPr>
        <p:txBody>
          <a:bodyPr/>
          <a:lstStyle/>
          <a:p>
            <a:r>
              <a:rPr lang="en-CA" sz="4000" dirty="0"/>
              <a:t>Learn to Hack Hackathon </a:t>
            </a:r>
            <a:br>
              <a:rPr lang="en-CA" sz="4000" dirty="0"/>
            </a:br>
            <a:r>
              <a:rPr lang="en-CA" b="1" dirty="0"/>
              <a:t>Group 1 – Matrix Not Found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0D845-2ADC-1F6C-398E-326EF8162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327" y="4249154"/>
            <a:ext cx="3830874" cy="14966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sz="2000" dirty="0"/>
              <a:t>Yeong Sir Chung</a:t>
            </a:r>
          </a:p>
          <a:p>
            <a:pPr>
              <a:lnSpc>
                <a:spcPct val="100000"/>
              </a:lnSpc>
            </a:pPr>
            <a:r>
              <a:rPr lang="en-CA" sz="2000" dirty="0"/>
              <a:t>Matthew Roberto</a:t>
            </a:r>
          </a:p>
          <a:p>
            <a:pPr>
              <a:lnSpc>
                <a:spcPct val="100000"/>
              </a:lnSpc>
            </a:pPr>
            <a:r>
              <a:rPr lang="en-CA" sz="2000" dirty="0"/>
              <a:t>Rohit Panda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8B0553-E47D-FA85-DF84-0BCA9D9FD706}"/>
              </a:ext>
            </a:extLst>
          </p:cNvPr>
          <p:cNvSpPr txBox="1">
            <a:spLocks/>
          </p:cNvSpPr>
          <p:nvPr/>
        </p:nvSpPr>
        <p:spPr>
          <a:xfrm>
            <a:off x="-134813" y="6529891"/>
            <a:ext cx="5868639" cy="65621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2800" dirty="0">
                <a:solidFill>
                  <a:schemeClr val="bg1"/>
                </a:solidFill>
              </a:rPr>
              <a:t> </a:t>
            </a:r>
            <a:r>
              <a:rPr lang="en-CA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https://roh00t.github.io/MatrixNotFound/</a:t>
            </a:r>
            <a:endParaRPr lang="en-CA" sz="2800" dirty="0">
              <a:solidFill>
                <a:schemeClr val="bg1"/>
              </a:solidFill>
            </a:endParaRPr>
          </a:p>
          <a:p>
            <a:endParaRPr lang="en-CA" sz="3600" dirty="0"/>
          </a:p>
        </p:txBody>
      </p:sp>
    </p:spTree>
    <p:extLst>
      <p:ext uri="{BB962C8B-B14F-4D97-AF65-F5344CB8AC3E}">
        <p14:creationId xmlns:p14="http://schemas.microsoft.com/office/powerpoint/2010/main" val="1693780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0DCB3-8BDE-9907-BC86-35D7AB352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5286157" cy="4305300"/>
          </a:xfrm>
        </p:spPr>
        <p:txBody>
          <a:bodyPr>
            <a:normAutofit/>
          </a:bodyPr>
          <a:lstStyle/>
          <a:p>
            <a:r>
              <a:rPr lang="en-GB"/>
              <a:t>Buildings are a major contributor to carbon emissions. We built an </a:t>
            </a:r>
            <a:r>
              <a:rPr lang="en-GB" b="1"/>
              <a:t>ML model</a:t>
            </a:r>
            <a:r>
              <a:rPr lang="en-GB"/>
              <a:t> that </a:t>
            </a:r>
            <a:r>
              <a:rPr lang="en-GB" b="1"/>
              <a:t>predicts a building's energy use intensity</a:t>
            </a:r>
            <a:r>
              <a:rPr lang="en-GB"/>
              <a:t> (site EUI) from known factors,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Floor area and year built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Energy Star rating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Facility type and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Climate: temperatures, degree days, precipitation and snow</a:t>
            </a:r>
          </a:p>
          <a:p>
            <a:r>
              <a:rPr lang="en-GB"/>
              <a:t>Buildings that use far more energy than the model expects for similar buildings are the ones leaders should </a:t>
            </a:r>
            <a:r>
              <a:rPr lang="en-GB" b="1"/>
              <a:t>retrofit first</a:t>
            </a:r>
            <a:r>
              <a:rPr lang="en-GB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CC632E-460C-6B39-7224-621405DC60DE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091A1-BC22-2A30-F9A2-E89030970A10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3B9FED-5597-81B6-1A44-5924D54EC93D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2400"/>
              <a:t>z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97E83-CFD4-E8B2-7CF9-DCCFA7B5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Problem Statement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FD434C1-245B-5EFA-294E-6BAA2932C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829733"/>
            <a:ext cx="5291328" cy="46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99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A5E44-5C07-45F9-F168-FB29B89D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2F722-91D8-F1EA-7E6A-462C73442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8" y="2133600"/>
            <a:ext cx="4963850" cy="4305300"/>
          </a:xfrm>
        </p:spPr>
        <p:txBody>
          <a:bodyPr/>
          <a:lstStyle/>
          <a:p>
            <a:r>
              <a:rPr lang="en-GB" b="1"/>
              <a:t>75,757</a:t>
            </a:r>
            <a:r>
              <a:rPr lang="en-GB"/>
              <a:t> training building-years; </a:t>
            </a:r>
            <a:r>
              <a:rPr lang="en-GB" b="1"/>
              <a:t>9,705</a:t>
            </a:r>
            <a:r>
              <a:rPr lang="en-GB"/>
              <a:t> test buildings.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test set is one </a:t>
            </a:r>
            <a:r>
              <a:rPr lang="en-GB" b="1"/>
              <a:t>unseen year</a:t>
            </a:r>
            <a:r>
              <a:rPr lang="en-GB"/>
              <a:t> (year 7) with no State 6 buildings, so we validate by holding out a whole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Energy Star rating is 35% missing: we filled gaps with </a:t>
            </a:r>
            <a:r>
              <a:rPr lang="en-GB" b="1"/>
              <a:t>training-only medians</a:t>
            </a:r>
            <a:r>
              <a:rPr lang="en-GB"/>
              <a:t> and added "was missing" flags (no rows dropped).</a:t>
            </a:r>
          </a:p>
          <a:p>
            <a:r>
              <a:rPr lang="en-GB"/>
              <a:t>On the test set, </a:t>
            </a:r>
            <a:r>
              <a:rPr lang="en-GB" b="1"/>
              <a:t>Energy Star rating</a:t>
            </a:r>
            <a:r>
              <a:rPr lang="en-GB"/>
              <a:t> has the strongest correlation with site EUI (</a:t>
            </a:r>
            <a:r>
              <a:rPr lang="en-GB" b="1"/>
              <a:t>−0.54</a:t>
            </a:r>
            <a:r>
              <a:rPr lang="en-GB"/>
              <a:t>). Climate variables form tightly correlated blocks.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A10662-ADB8-2DBD-1F32-1C9D75886485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433619-A6F6-F8D6-F926-32461591BF21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0F81AA0-9792-A1FF-E28E-8D6C970D75F9}"/>
              </a:ext>
            </a:extLst>
          </p:cNvPr>
          <p:cNvSpPr/>
          <p:nvPr/>
        </p:nvSpPr>
        <p:spPr>
          <a:xfrm>
            <a:off x="429416" y="542931"/>
            <a:ext cx="5056983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97C99-86DB-C12E-7479-A43916D5A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886738" cy="410490"/>
          </a:xfrm>
        </p:spPr>
        <p:txBody>
          <a:bodyPr>
            <a:noAutofit/>
          </a:bodyPr>
          <a:lstStyle/>
          <a:p>
            <a:r>
              <a:rPr lang="en-CA" sz="3200"/>
              <a:t>Exploratory Data Analysis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414639-0622-C551-4EBB-68BFC780D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888" y="591330"/>
            <a:ext cx="6507112" cy="569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101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49FCB-F306-B453-CE2E-3D1698534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047E1-2EC3-13C8-9C7F-F84AFFEA6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5486400" cy="4305300"/>
          </a:xfrm>
        </p:spPr>
        <p:txBody>
          <a:bodyPr/>
          <a:lstStyle/>
          <a:p>
            <a:r>
              <a:rPr lang="en-GB" b="1"/>
              <a:t>Gradient-boosted regression trees</a:t>
            </a:r>
            <a:r>
              <a:rPr lang="en-GB"/>
              <a:t> (MATLAB </a:t>
            </a:r>
            <a:r>
              <a:rPr lang="en-GB" b="1"/>
              <a:t>LSBoost</a:t>
            </a:r>
            <a:r>
              <a:rPr lang="en-GB"/>
              <a:t>, the native XGBoost-family method): mixed numeric and categorical data, no scaling.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Tree</a:t>
            </a:r>
            <a:r>
              <a:rPr lang="en-GB"/>
              <a:t> baseline → </a:t>
            </a:r>
            <a:r>
              <a:rPr lang="en-GB" b="1"/>
              <a:t>LSBoost v1</a:t>
            </a:r>
            <a:r>
              <a:rPr lang="en-GB"/>
              <a:t> (all features) → </a:t>
            </a:r>
            <a:r>
              <a:rPr lang="en-GB" b="1"/>
              <a:t>v2</a:t>
            </a:r>
            <a:r>
              <a:rPr lang="en-GB"/>
              <a:t> (shrinkage) → </a:t>
            </a:r>
            <a:r>
              <a:rPr lang="en-GB" b="1"/>
              <a:t>v3</a:t>
            </a:r>
            <a:r>
              <a:rPr lang="en-GB"/>
              <a:t> (feature selection: drop 36 monthly temperatures)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Engineered features: building age, floor area × heating/cooling degree days, Energy Star × floor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Leave-one-year-out</a:t>
            </a:r>
            <a:r>
              <a:rPr lang="en-GB"/>
              <a:t> validation, with cleaning refit inside every fold (no leakage)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B36A38-96AF-8C92-72B8-F2CC0ABB5C04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519CA-6EBA-5368-DEF2-CFBB473E6555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EC249A-0DD8-D8F7-DA17-D9871D463744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0A21D-297E-D00E-E051-3B2CBAE94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Model Architecture</a:t>
            </a:r>
          </a:p>
        </p:txBody>
      </p:sp>
      <p:pic>
        <p:nvPicPr>
          <p:cNvPr id="11" name="Validation gap chart" descr="2_validation_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914400"/>
            <a:ext cx="5394960" cy="3485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C7A7-70EC-89E0-E086-D59A80AC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C09C2-8974-B414-2A18-FDA2D51A5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4892040" cy="4305300"/>
          </a:xfrm>
        </p:spPr>
        <p:txBody>
          <a:bodyPr/>
          <a:lstStyle/>
          <a:p>
            <a:r>
              <a:rPr lang="en-GB" b="1"/>
              <a:t>LSBoost v3</a:t>
            </a:r>
            <a:r>
              <a:rPr lang="en-GB"/>
              <a:t> is our final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LOYO RMSE </a:t>
            </a:r>
            <a:r>
              <a:rPr lang="en-GB" b="1"/>
              <a:t>40.1</a:t>
            </a:r>
            <a:r>
              <a:rPr lang="en-GB"/>
              <a:t>, </a:t>
            </a:r>
            <a:r>
              <a:rPr lang="en-GB" b="1"/>
              <a:t>34%</a:t>
            </a:r>
            <a:r>
              <a:rPr lang="en-GB"/>
              <a:t> lower than a single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MAE </a:t>
            </a:r>
            <a:r>
              <a:rPr lang="en-GB" b="1"/>
              <a:t>21.0</a:t>
            </a:r>
            <a:r>
              <a:rPr lang="en-GB"/>
              <a:t> kBtu/ft²/yr and R² </a:t>
            </a:r>
            <a:r>
              <a:rPr lang="en-GB" b="1"/>
              <a:t>0.53</a:t>
            </a:r>
            <a:r>
              <a:rPr lang="en-GB"/>
              <a:t> on years it never saw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Best in </a:t>
            </a:r>
            <a:r>
              <a:rPr lang="en-GB" b="1"/>
              <a:t>5 of 6</a:t>
            </a:r>
            <a:r>
              <a:rPr lang="en-GB"/>
              <a:t> held-out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Reproducible: a clean rerun gives a byte-identical submission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88A3D-6E31-916C-4A28-FC37044FB355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9D894-3E55-E3EF-82D0-46D5DFAFEEC8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8E58F0-2CA0-EBB1-7DD7-63B4DF784CC1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8F028-9C90-AABF-EACD-48559720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F8F0AA-D9F3-0A95-3427-3F19B2390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249687"/>
              </p:ext>
            </p:extLst>
          </p:nvPr>
        </p:nvGraphicFramePr>
        <p:xfrm>
          <a:off x="5532074" y="1516472"/>
          <a:ext cx="591698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9245">
                  <a:extLst>
                    <a:ext uri="{9D8B030D-6E8A-4147-A177-3AD203B41FA5}">
                      <a16:colId xmlns:a16="http://schemas.microsoft.com/office/drawing/2014/main" val="1312509222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1201783312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4020144876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1107400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All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Year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vs. tree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8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Tree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61.02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59.37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4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LSBoost v1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41.06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−33%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94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LSBoost v2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41.85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42.57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−31%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7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LSBoost v3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40.12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41.31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−34%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960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6223000" y="677333"/>
            <a:ext cx="4754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Leave-one-year-out (official model)</a:t>
            </a:r>
          </a:p>
        </p:txBody>
      </p:sp>
      <p:pic>
        <p:nvPicPr>
          <p:cNvPr id="11" name="Model journey chart" descr="11_model_jour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5352" y="3840480"/>
            <a:ext cx="4078603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40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C7A7-70EC-89E0-E086-D59A80ACE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C09C2-8974-B414-2A18-FDA2D51A5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4892040" cy="4305300"/>
          </a:xfrm>
        </p:spPr>
        <p:txBody>
          <a:bodyPr/>
          <a:lstStyle/>
          <a:p>
            <a:r>
              <a:rPr lang="en-GB" dirty="0"/>
              <a:t>Controlled experiment: same data and folds, only the model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M1</a:t>
            </a:r>
            <a:r>
              <a:rPr lang="en-GB" dirty="0"/>
              <a:t>: single regression tree, all cleaned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M2</a:t>
            </a:r>
            <a:r>
              <a:rPr lang="en-GB" dirty="0"/>
              <a:t>: single regression tree, 8 selected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M3</a:t>
            </a:r>
            <a:r>
              <a:rPr lang="en-GB" dirty="0"/>
              <a:t>: </a:t>
            </a:r>
            <a:r>
              <a:rPr lang="en-GB" dirty="0" err="1"/>
              <a:t>LSBoost</a:t>
            </a:r>
            <a:r>
              <a:rPr lang="en-GB" dirty="0"/>
              <a:t> (300 Trees), 8 selected factors</a:t>
            </a:r>
          </a:p>
          <a:p>
            <a:r>
              <a:rPr lang="en-GB" dirty="0"/>
              <a:t>Boosting on selected features wins on </a:t>
            </a:r>
            <a:r>
              <a:rPr lang="en-GB" b="1" dirty="0"/>
              <a:t>every metric</a:t>
            </a:r>
            <a:r>
              <a:rPr lang="en-GB" dirty="0"/>
              <a:t> under both validations, consistent with the official result.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388A3D-6E31-916C-4A28-FC37044FB355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9D894-3E55-E3EF-82D0-46D5DFAFEEC8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8E58F0-2CA0-EBB1-7DD7-63B4DF784CC1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E8F028-9C90-AABF-EACD-48559720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Model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F8F0AA-D9F3-0A95-3427-3F19B2390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028419"/>
              </p:ext>
            </p:extLst>
          </p:nvPr>
        </p:nvGraphicFramePr>
        <p:xfrm>
          <a:off x="5523910" y="1165500"/>
          <a:ext cx="591698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9245">
                  <a:extLst>
                    <a:ext uri="{9D8B030D-6E8A-4147-A177-3AD203B41FA5}">
                      <a16:colId xmlns:a16="http://schemas.microsoft.com/office/drawing/2014/main" val="1312509222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1201783312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4020144876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1107400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089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23.3941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23.3385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21.0390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48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MSE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2044.3723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2024.7375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1695.0047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947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45.2147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44.9971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41.1704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587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0.3976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0.4034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0.5005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9601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6223000" y="677333"/>
            <a:ext cx="3130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Five-fold pooled out-of-fold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253B080-ABE3-FF86-A88A-F3C14057C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068420"/>
              </p:ext>
            </p:extLst>
          </p:nvPr>
        </p:nvGraphicFramePr>
        <p:xfrm>
          <a:off x="5523910" y="4114558"/>
          <a:ext cx="591698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79245">
                  <a:extLst>
                    <a:ext uri="{9D8B030D-6E8A-4147-A177-3AD203B41FA5}">
                      <a16:colId xmlns:a16="http://schemas.microsoft.com/office/drawing/2014/main" val="839446683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3842009900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2747137177"/>
                    </a:ext>
                  </a:extLst>
                </a:gridCol>
                <a:gridCol w="1479245">
                  <a:extLst>
                    <a:ext uri="{9D8B030D-6E8A-4147-A177-3AD203B41FA5}">
                      <a16:colId xmlns:a16="http://schemas.microsoft.com/office/drawing/2014/main" val="36106753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err="1"/>
                        <a:t>M3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245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22.7927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22.7324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21.0440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40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MSE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2023.2171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2003.8279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1842.3056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655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44.9802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44.7641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42.9221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133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="1">
                          <a:solidFill>
                            <a:schemeClr val="tx1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/>
                        <a:t>0.3777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0.3836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/>
                        <a:t>0.4333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152720"/>
                  </a:ext>
                </a:extLst>
              </a:tr>
            </a:tbl>
          </a:graphicData>
        </a:graphic>
      </p:graphicFrame>
      <p:sp>
        <p:nvSpPr>
          <p:cNvPr id="6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6227064" y="3639312"/>
            <a:ext cx="512064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Latest-year holdout (train years 1–5, predict 6)</a:t>
            </a:r>
          </a:p>
        </p:txBody>
      </p:sp>
    </p:spTree>
    <p:extLst>
      <p:ext uri="{BB962C8B-B14F-4D97-AF65-F5344CB8AC3E}">
        <p14:creationId xmlns:p14="http://schemas.microsoft.com/office/powerpoint/2010/main" val="4063405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748B-7EB9-D056-87BD-44BE8108B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B6342-1C0A-B3F6-4FD0-561C63793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3840480" cy="4305300"/>
          </a:xfrm>
        </p:spPr>
        <p:txBody>
          <a:bodyPr/>
          <a:lstStyle/>
          <a:p>
            <a:r>
              <a:rPr lang="en-GB"/>
              <a:t>Residuals (predicted − actual) for all three models, five-fold out-of-fold: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Centred on zero (M3 mean bias </a:t>
            </a:r>
            <a:r>
              <a:rPr lang="en-GB" b="1"/>
              <a:t>0.03</a:t>
            </a:r>
            <a:r>
              <a:rPr lang="en-GB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M3 has the tightest spread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Long negative tail: a few buildings use </a:t>
            </a:r>
            <a:r>
              <a:rPr lang="en-GB" b="1"/>
              <a:t>far more</a:t>
            </a:r>
            <a:r>
              <a:rPr lang="en-GB"/>
              <a:t> than predicted</a:t>
            </a:r>
          </a:p>
          <a:p>
            <a:r>
              <a:rPr lang="en-GB"/>
              <a:t>Those outliers are exactly what </a:t>
            </a:r>
            <a:r>
              <a:rPr lang="en-GB" b="1"/>
              <a:t>Retrofit Radar</a:t>
            </a:r>
            <a:r>
              <a:rPr lang="en-GB"/>
              <a:t> flags.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B18FE-2BD1-686C-E4AD-25E6D06D2806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D58861-5655-33F9-0D4B-A80C66085407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4622509-1671-6A58-3585-A524E5E968C9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80E1E-495A-BDC9-28B0-C8700325B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Results - Residual</a:t>
            </a:r>
          </a:p>
        </p:txBody>
      </p:sp>
      <p:pic>
        <p:nvPicPr>
          <p:cNvPr id="11" name="M3 residuals" descr="residua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502920"/>
            <a:ext cx="7223760" cy="3284208"/>
          </a:xfrm>
          <a:prstGeom prst="rect">
            <a:avLst/>
          </a:prstGeom>
        </p:spPr>
      </p:pic>
      <p:pic>
        <p:nvPicPr>
          <p:cNvPr id="12" name="M1 residuals" descr="residual_diagnostic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343400"/>
            <a:ext cx="3520440" cy="1600532"/>
          </a:xfrm>
          <a:prstGeom prst="rect">
            <a:avLst/>
          </a:prstGeom>
        </p:spPr>
      </p:pic>
      <p:pic>
        <p:nvPicPr>
          <p:cNvPr id="13" name="M2 residuals" descr="residual_diagnos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4343400"/>
            <a:ext cx="3520440" cy="16005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4572000" y="3794760"/>
            <a:ext cx="7223760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/>
              <a:t>M3: LSBoost, selected factors (best)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4572000" y="5943600"/>
            <a:ext cx="352044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/>
              <a:t>M1: tree, all factors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663050F-8CD2-3FBD-6C05-0DF0F366B857}"/>
              </a:ext>
            </a:extLst>
          </p:cNvPr>
          <p:cNvSpPr txBox="1"/>
          <p:nvPr/>
        </p:nvSpPr>
        <p:spPr>
          <a:xfrm>
            <a:off x="8275320" y="5943600"/>
            <a:ext cx="3520440" cy="3200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/>
              <a:t>M2: tree, selected factors</a:t>
            </a:r>
          </a:p>
        </p:txBody>
      </p:sp>
    </p:spTree>
    <p:extLst>
      <p:ext uri="{BB962C8B-B14F-4D97-AF65-F5344CB8AC3E}">
        <p14:creationId xmlns:p14="http://schemas.microsoft.com/office/powerpoint/2010/main" val="419177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0DCB3-8BDE-9907-BC86-35D7AB352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5286157" cy="4305300"/>
          </a:xfrm>
        </p:spPr>
        <p:txBody>
          <a:bodyPr>
            <a:normAutofit/>
          </a:bodyPr>
          <a:lstStyle/>
          <a:p>
            <a:r>
              <a:rPr lang="en-GB" b="1"/>
              <a:t>Retrofit Radar</a:t>
            </a:r>
            <a:r>
              <a:rPr lang="en-GB"/>
              <a:t> compares each building's actual energy use with what the model expects for similar buildings: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1,316</a:t>
            </a:r>
            <a:r>
              <a:rPr lang="en-GB"/>
              <a:t> buildings use 50%+ more than expected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top 50 account for </a:t>
            </a:r>
            <a:r>
              <a:rPr lang="en-GB" b="1"/>
              <a:t>1,573 GWh/yr</a:t>
            </a:r>
            <a:r>
              <a:rPr lang="en-GB"/>
              <a:t> of excess energy</a:t>
            </a:r>
          </a:p>
          <a:p>
            <a:r>
              <a:rPr lang="en-GB" b="1"/>
              <a:t>3D simulator</a:t>
            </a:r>
            <a:r>
              <a:rPr lang="en-GB"/>
              <a:t>: click NTU's The Hive or The Arc and our trained model runs </a:t>
            </a:r>
            <a:r>
              <a:rPr lang="en-GB" b="1"/>
              <a:t>in the browser</a:t>
            </a:r>
            <a:r>
              <a:rPr lang="en-GB"/>
              <a:t>, matching MATLAB exactly.</a:t>
            </a:r>
          </a:p>
          <a:p>
            <a:r>
              <a:rPr lang="en-GB"/>
              <a:t>Open </a:t>
            </a:r>
            <a:r>
              <a:rPr lang="en-GB" b="1"/>
              <a:t>index.html</a:t>
            </a:r>
            <a:r>
              <a:rPr lang="en-GB"/>
              <a:t> in the repository for the dashboard, simulator and report.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CC632E-460C-6B39-7224-621405DC60DE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D091A1-BC22-2A30-F9A2-E89030970A10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C3B9FED-5597-81B6-1A44-5924D54EC93D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3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2400"/>
              <a:t>z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97E83-CFD4-E8B2-7CF9-DCCFA7B5D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Live Demo</a:t>
            </a:r>
          </a:p>
        </p:txBody>
      </p:sp>
      <p:pic>
        <p:nvPicPr>
          <p:cNvPr id="11" name="Simulator screenshot" descr="sim_de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914400"/>
            <a:ext cx="5760720" cy="30923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18C61A-1439-1A63-2CFC-9424379C8A51}"/>
              </a:ext>
            </a:extLst>
          </p:cNvPr>
          <p:cNvSpPr txBox="1"/>
          <p:nvPr/>
        </p:nvSpPr>
        <p:spPr>
          <a:xfrm>
            <a:off x="6096000" y="5056745"/>
            <a:ext cx="6099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https://roh00t.github.io/</a:t>
            </a:r>
            <a:r>
              <a:rPr lang="en-US" dirty="0" err="1"/>
              <a:t>MatrixNotFound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024998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0FE17-EB3A-ECC1-D56F-A9387E0B0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51E8-CC9D-F03C-DEBB-92E4C7B8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5760720" cy="4305300"/>
          </a:xfrm>
        </p:spPr>
        <p:txBody>
          <a:bodyPr/>
          <a:lstStyle/>
          <a:p>
            <a:r>
              <a:rPr lang="en-GB"/>
              <a:t>Our best model is </a:t>
            </a:r>
            <a:r>
              <a:rPr lang="en-GB" b="1"/>
              <a:t>LSBoost v3 (feature selection)</a:t>
            </a:r>
            <a:r>
              <a:rPr lang="en-GB"/>
              <a:t>: LOYO RMSE </a:t>
            </a:r>
            <a:r>
              <a:rPr lang="en-GB" b="1"/>
              <a:t>40.1</a:t>
            </a:r>
            <a:r>
              <a:rPr lang="en-GB"/>
              <a:t>, MAE </a:t>
            </a:r>
            <a:r>
              <a:rPr lang="en-GB" b="1"/>
              <a:t>21.0</a:t>
            </a:r>
            <a:r>
              <a:rPr lang="en-GB"/>
              <a:t>, R² </a:t>
            </a:r>
            <a:r>
              <a:rPr lang="en-GB" b="1"/>
              <a:t>0.53</a:t>
            </a:r>
            <a:r>
              <a:rPr lang="en-GB"/>
              <a:t>, with 34% lower error than a single tree.</a:t>
            </a:r>
          </a:p>
          <a:p>
            <a:endParaRPr lang="en-GB"/>
          </a:p>
          <a:p>
            <a:r>
              <a:rPr lang="en-GB"/>
              <a:t>In real-world use, </a:t>
            </a:r>
            <a:r>
              <a:rPr lang="en-GB" b="1"/>
              <a:t>Retrofit Radar</a:t>
            </a:r>
            <a:r>
              <a:rPr lang="en-GB"/>
              <a:t> turns predictions into a ranked audit list: the buildings using far more energy than their peers.</a:t>
            </a:r>
          </a:p>
          <a:p>
            <a:endParaRPr lang="en-GB"/>
          </a:p>
          <a:p>
            <a:r>
              <a:rPr lang="en-GB"/>
              <a:t>Repository link:</a:t>
            </a:r>
          </a:p>
          <a:p>
            <a:r>
              <a:rPr lang="en-CA">
                <a:hlinkClick r:id="rId3"/>
              </a:rPr>
              <a:t>Roh00t/</a:t>
            </a:r>
            <a:r>
              <a:rPr lang="en-CA" err="1">
                <a:hlinkClick r:id="rId3"/>
              </a:rPr>
              <a:t>MatrixNotFound</a:t>
            </a:r>
            <a:r>
              <a:rPr lang="en-CA">
                <a:hlinkClick r:id="rId3"/>
              </a:rPr>
              <a:t>: </a:t>
            </a:r>
            <a:r>
              <a:rPr lang="en-CA" err="1">
                <a:hlinkClick r:id="rId3"/>
              </a:rPr>
              <a:t>LearnToHack</a:t>
            </a:r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7E347E-8C61-8ECD-0661-6A5624DE7F61}"/>
              </a:ext>
            </a:extLst>
          </p:cNvPr>
          <p:cNvSpPr/>
          <p:nvPr/>
        </p:nvSpPr>
        <p:spPr>
          <a:xfrm>
            <a:off x="0" y="6667018"/>
            <a:ext cx="7396223" cy="1909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C1A8A3-210C-9379-3063-7980EE695192}"/>
              </a:ext>
            </a:extLst>
          </p:cNvPr>
          <p:cNvSpPr/>
          <p:nvPr/>
        </p:nvSpPr>
        <p:spPr>
          <a:xfrm>
            <a:off x="7396223" y="6476036"/>
            <a:ext cx="4795777" cy="1909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58860CD-E8F0-BF3B-575E-AF3E9E666642}"/>
              </a:ext>
            </a:extLst>
          </p:cNvPr>
          <p:cNvSpPr/>
          <p:nvPr/>
        </p:nvSpPr>
        <p:spPr>
          <a:xfrm>
            <a:off x="429417" y="542931"/>
            <a:ext cx="4032676" cy="1176284"/>
          </a:xfrm>
          <a:prstGeom prst="roundRect">
            <a:avLst>
              <a:gd name="adj" fmla="val 9060"/>
            </a:avLst>
          </a:prstGeom>
          <a:blipFill dpi="0" rotWithShape="1">
            <a:blip r:embed="rId4">
              <a:alphaModFix amt="15000"/>
            </a:blip>
            <a:srcRect/>
            <a:tile tx="0" ty="0" sx="100000" sy="100000" flip="none" algn="tl"/>
          </a:blipFill>
          <a:ln w="12700">
            <a:gradFill flip="none" rotWithShape="1">
              <a:gsLst>
                <a:gs pos="55000">
                  <a:schemeClr val="tx1">
                    <a:alpha val="0"/>
                  </a:schemeClr>
                </a:gs>
                <a:gs pos="0">
                  <a:schemeClr val="tx1"/>
                </a:gs>
              </a:gsLst>
              <a:lin ang="2700000" scaled="0"/>
              <a:tileRect/>
            </a:gra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5E68E6-22FC-9993-812A-C97A6BF24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662" y="925828"/>
            <a:ext cx="4032676" cy="410490"/>
          </a:xfrm>
        </p:spPr>
        <p:txBody>
          <a:bodyPr>
            <a:noAutofit/>
          </a:bodyPr>
          <a:lstStyle/>
          <a:p>
            <a:r>
              <a:rPr lang="en-CA" sz="3200"/>
              <a:t>Conclusion</a:t>
            </a:r>
          </a:p>
        </p:txBody>
      </p:sp>
      <p:pic>
        <p:nvPicPr>
          <p:cNvPr id="11" name="Retrofit Radar chart" descr="5_retrofit_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914400"/>
            <a:ext cx="5303520" cy="30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940213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0065ae-0c4e-4fe2-83da-e378abc5649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2325BEAFE7F9428E5D4763043D7106" ma:contentTypeVersion="14" ma:contentTypeDescription="Create a new document." ma:contentTypeScope="" ma:versionID="57ce1343f97cfe57dc59d062debdbe7c">
  <xsd:schema xmlns:xsd="http://www.w3.org/2001/XMLSchema" xmlns:xs="http://www.w3.org/2001/XMLSchema" xmlns:p="http://schemas.microsoft.com/office/2006/metadata/properties" xmlns:ns3="730065ae-0c4e-4fe2-83da-e378abc56499" xmlns:ns4="25af2e44-3863-4f07-bc1c-5e8baf608108" targetNamespace="http://schemas.microsoft.com/office/2006/metadata/properties" ma:root="true" ma:fieldsID="c0a29f15be03d1a91484707cc95c5a10" ns3:_="" ns4:_="">
    <xsd:import namespace="730065ae-0c4e-4fe2-83da-e378abc56499"/>
    <xsd:import namespace="25af2e44-3863-4f07-bc1c-5e8baf60810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0065ae-0c4e-4fe2-83da-e378abc564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f2e44-3863-4f07-bc1c-5e8baf60810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A2BE0D-00EC-41B7-B8C6-AEF807D66DF3}">
  <ds:schemaRefs>
    <ds:schemaRef ds:uri="25af2e44-3863-4f07-bc1c-5e8baf608108"/>
    <ds:schemaRef ds:uri="730065ae-0c4e-4fe2-83da-e378abc564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5C5025F-1B4F-4EAE-9783-53EFA569F4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3301A5-CA64-4632-8ECA-B441D73308BD}">
  <ds:schemaRefs>
    <ds:schemaRef ds:uri="25af2e44-3863-4f07-bc1c-5e8baf608108"/>
    <ds:schemaRef ds:uri="730065ae-0c4e-4fe2-83da-e378abc564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1340</Words>
  <Application>Microsoft Macintosh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Neue Haas Grotesk Text Pro</vt:lpstr>
      <vt:lpstr>Wingdings</vt:lpstr>
      <vt:lpstr>Film Burn</vt:lpstr>
      <vt:lpstr>Learn to Hack Hackathon  Group 1 – Matrix Not Found</vt:lpstr>
      <vt:lpstr>Problem Statement</vt:lpstr>
      <vt:lpstr>Exploratory Data Analysis</vt:lpstr>
      <vt:lpstr>Model Architecture</vt:lpstr>
      <vt:lpstr>Results</vt:lpstr>
      <vt:lpstr>Model Comparison</vt:lpstr>
      <vt:lpstr>Results - Residual</vt:lpstr>
      <vt:lpstr>Live Demo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Roberto</dc:creator>
  <cp:lastModifiedBy>ROHIT PANDA</cp:lastModifiedBy>
  <cp:revision>7</cp:revision>
  <dcterms:created xsi:type="dcterms:W3CDTF">2026-10-30T03:22:30Z</dcterms:created>
  <dcterms:modified xsi:type="dcterms:W3CDTF">2026-10-30T07:30:30Z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0x010100072325BEAFE7F9428E5D4763043D7106</vt:lpwstr>
  </property>
</Properties>
</file>